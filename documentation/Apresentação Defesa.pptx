
<file path=[Content_Types].xml><?xml version="1.0" encoding="utf-8"?>
<Types xmlns="http://schemas.openxmlformats.org/package/2006/content-types">
  <Default Extension="xml" ContentType="application/xml"/>
  <Default Extension="bin" ContentType="application/vnd.openxmlformats-officedocument.presentationml.printerSettings"/>
  <Default Extension="png" ContentType="image/pn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4" r:id="rId1"/>
  </p:sldMasterIdLst>
  <p:notesMasterIdLst>
    <p:notesMasterId r:id="rId47"/>
  </p:notesMasterIdLst>
  <p:handoutMasterIdLst>
    <p:handoutMasterId r:id="rId48"/>
  </p:handoutMasterIdLst>
  <p:sldIdLst>
    <p:sldId id="256" r:id="rId2"/>
    <p:sldId id="257" r:id="rId3"/>
    <p:sldId id="260" r:id="rId4"/>
    <p:sldId id="286" r:id="rId5"/>
    <p:sldId id="261" r:id="rId6"/>
    <p:sldId id="259" r:id="rId7"/>
    <p:sldId id="262" r:id="rId8"/>
    <p:sldId id="263" r:id="rId9"/>
    <p:sldId id="287" r:id="rId10"/>
    <p:sldId id="269" r:id="rId11"/>
    <p:sldId id="271" r:id="rId12"/>
    <p:sldId id="274" r:id="rId13"/>
    <p:sldId id="322" r:id="rId14"/>
    <p:sldId id="273" r:id="rId15"/>
    <p:sldId id="275" r:id="rId16"/>
    <p:sldId id="276" r:id="rId17"/>
    <p:sldId id="289" r:id="rId18"/>
    <p:sldId id="291" r:id="rId19"/>
    <p:sldId id="290" r:id="rId20"/>
    <p:sldId id="317" r:id="rId21"/>
    <p:sldId id="318" r:id="rId22"/>
    <p:sldId id="319" r:id="rId23"/>
    <p:sldId id="320" r:id="rId24"/>
    <p:sldId id="321" r:id="rId25"/>
    <p:sldId id="295" r:id="rId26"/>
    <p:sldId id="296" r:id="rId27"/>
    <p:sldId id="297" r:id="rId28"/>
    <p:sldId id="298" r:id="rId29"/>
    <p:sldId id="299" r:id="rId30"/>
    <p:sldId id="300" r:id="rId31"/>
    <p:sldId id="307" r:id="rId32"/>
    <p:sldId id="309" r:id="rId33"/>
    <p:sldId id="310" r:id="rId34"/>
    <p:sldId id="308" r:id="rId35"/>
    <p:sldId id="316" r:id="rId36"/>
    <p:sldId id="311" r:id="rId37"/>
    <p:sldId id="277" r:id="rId38"/>
    <p:sldId id="278" r:id="rId39"/>
    <p:sldId id="279" r:id="rId40"/>
    <p:sldId id="280" r:id="rId41"/>
    <p:sldId id="281" r:id="rId42"/>
    <p:sldId id="282" r:id="rId43"/>
    <p:sldId id="283" r:id="rId44"/>
    <p:sldId id="284" r:id="rId45"/>
    <p:sldId id="285" r:id="rId46"/>
  </p:sldIdLst>
  <p:sldSz cx="9144000" cy="6858000" type="screen4x3"/>
  <p:notesSz cx="6858000" cy="9144000"/>
  <p:defaultTextStyle>
    <a:defPPr marR="0" algn="l" rtl="0">
      <a:lnSpc>
        <a:spcPct val="100000"/>
      </a:lnSpc>
      <a:spcBef>
        <a:spcPts val="0"/>
      </a:spcBef>
      <a:spcAft>
        <a:spcPts val="0"/>
      </a:spcAft>
    </a:defPPr>
    <a:lvl1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1pPr>
    <a:lvl2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2pPr>
    <a:lvl3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3pPr>
    <a:lvl4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4pPr>
    <a:lvl5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5pPr>
    <a:lvl6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6pPr>
    <a:lvl7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7pPr>
    <a:lvl8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8pPr>
    <a:lvl9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22F0721F-08A2-4DAB-8A2F-E9D09D0CF68C}">
  <a:tblStyle styleId="{22F0721F-08A2-4DAB-8A2F-E9D09D0CF68C}" styleName="Table_0">
    <a:wholeTbl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206" autoAdjust="0"/>
  </p:normalViewPr>
  <p:slideViewPr>
    <p:cSldViewPr snapToGrid="0" snapToObjects="1">
      <p:cViewPr>
        <p:scale>
          <a:sx n="110" d="100"/>
          <a:sy n="110" d="100"/>
        </p:scale>
        <p:origin x="-1600" y="2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handoutMaster" Target="handoutMasters/handoutMaster1.xml"/><Relationship Id="rId49" Type="http://schemas.openxmlformats.org/officeDocument/2006/relationships/printerSettings" Target="printerSettings/printerSettings1.bin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C9BAEA-D122-8C4F-8C57-D5B9025AAF82}" type="datetimeFigureOut">
              <a:rPr lang="en-US" smtClean="0"/>
              <a:t>7/24/15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259ED0-8B73-6C45-A6F8-C7E8D4306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8028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" name="Shape 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>
              <a:spcBef>
                <a:spcPts val="0"/>
              </a:spcBef>
              <a:defRPr sz="1100"/>
            </a:lvl1pPr>
            <a:lvl2pPr>
              <a:spcBef>
                <a:spcPts val="0"/>
              </a:spcBef>
              <a:defRPr sz="1100"/>
            </a:lvl2pPr>
            <a:lvl3pPr>
              <a:spcBef>
                <a:spcPts val="0"/>
              </a:spcBef>
              <a:defRPr sz="1100"/>
            </a:lvl3pPr>
            <a:lvl4pPr>
              <a:spcBef>
                <a:spcPts val="0"/>
              </a:spcBef>
              <a:defRPr sz="1100"/>
            </a:lvl4pPr>
            <a:lvl5pPr>
              <a:spcBef>
                <a:spcPts val="0"/>
              </a:spcBef>
              <a:defRPr sz="1100"/>
            </a:lvl5pPr>
            <a:lvl6pPr>
              <a:spcBef>
                <a:spcPts val="0"/>
              </a:spcBef>
              <a:defRPr sz="1100"/>
            </a:lvl6pPr>
            <a:lvl7pPr>
              <a:spcBef>
                <a:spcPts val="0"/>
              </a:spcBef>
              <a:defRPr sz="1100"/>
            </a:lvl7pPr>
            <a:lvl8pPr>
              <a:spcBef>
                <a:spcPts val="0"/>
              </a:spcBef>
              <a:defRPr sz="1100"/>
            </a:lvl8pPr>
            <a:lvl9pPr>
              <a:spcBef>
                <a:spcPts val="0"/>
              </a:spcBef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51751902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4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1" name="Shape 4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rtl="0">
              <a:spcBef>
                <a:spcPts val="0"/>
              </a:spcBef>
              <a:buNone/>
            </a:pPr>
            <a:endParaRPr/>
          </a:p>
          <a:p>
            <a:pPr rtl="0">
              <a:spcBef>
                <a:spcPts val="0"/>
              </a:spcBef>
              <a:buNone/>
            </a:pPr>
            <a:r>
              <a:rPr lang="en"/>
              <a:t>Bom dia a todos, Meu nome é Calebe Brim e eu sou baicharel em Sistemas de informação pela UNIVILLE - Universidade da região de joinville. Gostaria de comprimentar a banca: </a:t>
            </a:r>
          </a:p>
          <a:p>
            <a:pPr rtl="0">
              <a:spcBef>
                <a:spcPts val="0"/>
              </a:spcBef>
              <a:buNone/>
            </a:pPr>
            <a:r>
              <a:rPr lang="en"/>
              <a:t>Professor Dr. Luiz Melo Romão.</a:t>
            </a:r>
          </a:p>
          <a:p>
            <a:pPr rtl="0">
              <a:spcBef>
                <a:spcPts val="0"/>
              </a:spcBef>
              <a:buNone/>
            </a:pPr>
            <a:r>
              <a:rPr lang="en"/>
              <a:t>Professor Dr. Paulo Costa Carvalho.</a:t>
            </a:r>
          </a:p>
          <a:p>
            <a:pPr rtl="0">
              <a:spcBef>
                <a:spcPts val="0"/>
              </a:spcBef>
              <a:buNone/>
            </a:pPr>
            <a:r>
              <a:rPr lang="en"/>
              <a:t>Professora Dr. Geisa Caprini</a:t>
            </a:r>
          </a:p>
          <a:p>
            <a:pPr rtl="0">
              <a:spcBef>
                <a:spcPts val="0"/>
              </a:spcBef>
              <a:buNone/>
            </a:pPr>
            <a:endParaRPr/>
          </a:p>
          <a:p>
            <a:pPr rtl="0">
              <a:spcBef>
                <a:spcPts val="0"/>
              </a:spcBef>
              <a:buNone/>
            </a:pPr>
            <a:r>
              <a:rPr lang="en"/>
              <a:t>E venho por meio desta apresentação defender o título de mestre pelo programa de pós graduação em bioinformática da UFPR e apresentar a concusão do projeto de pesquisa "citar o título". </a:t>
            </a:r>
          </a:p>
          <a:p>
            <a:pPr rtl="0">
              <a:spcBef>
                <a:spcPts val="0"/>
              </a:spcBef>
              <a:buNone/>
            </a:pPr>
            <a:endParaRPr/>
          </a:p>
          <a:p>
            <a:pPr rtl="0">
              <a:spcBef>
                <a:spcPts val="0"/>
              </a:spcBef>
              <a:buNone/>
            </a:pPr>
            <a:r>
              <a:rPr lang="en"/>
              <a:t>Este projeto foi desenvolvido sob orientação do Professor Doutor Roberto Tadeu Raittz e coorientação do Professor Luciano Huergo.</a:t>
            </a:r>
          </a:p>
          <a:p>
            <a:pPr rtl="0">
              <a:spcBef>
                <a:spcPts val="0"/>
              </a:spcBef>
              <a:buNone/>
            </a:pPr>
            <a:endParaRPr/>
          </a:p>
          <a:p>
            <a:pPr rtl="0">
              <a:spcBef>
                <a:spcPts val="0"/>
              </a:spcBef>
              <a:buNone/>
            </a:pPr>
            <a:r>
              <a:rPr lang="en"/>
              <a:t>Este trabalho tem como objetivo estudar tecnicas de inteligência artificial aplicadas a dados de espectrometria de massas de uma forma genérica; e desenvolver uma ferramenta que permita o usuário realizar a tarefa de classificação sem a necessidade de conhecimentos de programação.</a:t>
            </a:r>
          </a:p>
          <a:p>
            <a:pPr>
              <a:spcBef>
                <a:spcPts val="0"/>
              </a:spcBef>
              <a:buNone/>
            </a:pPr>
            <a:endParaRPr/>
          </a:p>
          <a:p>
            <a:pPr>
              <a:spcBef>
                <a:spcPts val="0"/>
              </a:spcBef>
              <a:buNone/>
            </a:pPr>
            <a:r>
              <a:rPr/>
              <a:t>----- Meeting Notes (7/22/15 19:53) -----</a:t>
            </a:r>
          </a:p>
          <a:p>
            <a:pPr>
              <a:spcBef>
                <a:spcPts val="0"/>
              </a:spcBef>
              <a:buNone/>
            </a:pPr>
            <a:r>
              <a:rPr/>
              <a:t>Alteração de Título: ML-MS: uma ferramenta para análise e classificação de proteinas.</a:t>
            </a:r>
          </a:p>
          <a:p>
            <a:pPr>
              <a:spcBef>
                <a:spcPts val="0"/>
              </a:spcBef>
              <a:buNone/>
            </a:pPr>
            <a:endParaRPr/>
          </a:p>
          <a:p>
            <a:pPr>
              <a:spcBef>
                <a:spcPts val="0"/>
              </a:spcBef>
              <a:buNone/>
            </a:pPr>
            <a:r>
              <a:rPr/>
              <a:t>Uma ferramenta de inteligência artificial </a:t>
            </a:r>
          </a:p>
          <a:p>
            <a:pPr>
              <a:spcBef>
                <a:spcPts val="0"/>
              </a:spcBef>
              <a:buNone/>
            </a:pPr>
            <a:endParaRPr/>
          </a:p>
          <a:p>
            <a:pPr>
              <a:spcBef>
                <a:spcPts val="0"/>
              </a:spcBef>
              <a:buNone/>
            </a:pPr>
            <a:endParaRPr/>
          </a:p>
          <a:p>
            <a:pPr>
              <a:spcBef>
                <a:spcPts val="0"/>
              </a:spcBef>
              <a:buNone/>
            </a:pPr>
            <a:endParaRPr/>
          </a:p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2" name="Shape 5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rtl="0">
              <a:spcBef>
                <a:spcPts val="0"/>
              </a:spcBef>
              <a:buNone/>
            </a:pPr>
            <a:r>
              <a:rPr lang="en"/>
              <a:t>Para entender os objetivos gerais e específicos é necessário uma contetualização sobre como o trabalho está posicionado no universo ciêntífico da bioinformática.</a:t>
            </a:r>
          </a:p>
          <a:p>
            <a:pPr rtl="0">
              <a:spcBef>
                <a:spcPts val="0"/>
              </a:spcBef>
              <a:buNone/>
            </a:pPr>
            <a:endParaRPr/>
          </a:p>
          <a:p>
            <a:pPr rtl="0">
              <a:spcBef>
                <a:spcPts val="0"/>
              </a:spcBef>
              <a:buNone/>
            </a:pPr>
            <a:r>
              <a:rPr lang="en"/>
              <a:t>Na bioinformática duas grandes áreas de estudo dividem o foco das pesquisas: A genômica e a Proteômica.</a:t>
            </a:r>
          </a:p>
          <a:p>
            <a:pPr rtl="0">
              <a:spcBef>
                <a:spcPts val="0"/>
              </a:spcBef>
              <a:buNone/>
            </a:pPr>
            <a:endParaRPr/>
          </a:p>
          <a:p>
            <a:pPr rtl="0">
              <a:spcBef>
                <a:spcPts val="0"/>
              </a:spcBef>
              <a:buNone/>
            </a:pPr>
            <a:r>
              <a:rPr lang="en"/>
              <a:t>Os estudos na área da Genômica na bioinformática busca aprimorar técnicas de análise dos dados relacionados ao DNA, como montagem de genomas completos; identificação de novos genes e a relação deste estes genes com doenças, como o câncer, ou características que podem trazer benefícios, por exemplo: os genes relacionados à fixação de nitrogênio que tem se mostrado favorável para um melhor desenvolvimento das plantas. </a:t>
            </a:r>
          </a:p>
          <a:p>
            <a:pPr rtl="0">
              <a:spcBef>
                <a:spcPts val="0"/>
              </a:spcBef>
              <a:buNone/>
            </a:pPr>
            <a:endParaRPr/>
          </a:p>
          <a:p>
            <a:pPr rtl="0">
              <a:spcBef>
                <a:spcPts val="0"/>
              </a:spcBef>
              <a:buNone/>
            </a:pPr>
            <a:r>
              <a:rPr lang="en"/>
              <a:t>A proteômica, assim como a Genômica, possui como foco de estudo proteínas, peptídeos e aminoácidos. </a:t>
            </a:r>
          </a:p>
          <a:p>
            <a:pPr rtl="0">
              <a:spcBef>
                <a:spcPts val="0"/>
              </a:spcBef>
              <a:buNone/>
            </a:pPr>
            <a:r>
              <a:rPr lang="en"/>
              <a:t>A proteômica também pode estar relacionada aos estudos de genômica; neste caso existe um objetivo direto de relacionar o gene ou o conjunto de genes que estão relacionados à proteina, como sua formação ou as interações con outras proteinas.</a:t>
            </a:r>
          </a:p>
          <a:p>
            <a:pPr rtl="0">
              <a:spcBef>
                <a:spcPts val="0"/>
              </a:spcBef>
              <a:buNone/>
            </a:pPr>
            <a:endParaRPr/>
          </a:p>
          <a:p>
            <a:pPr>
              <a:spcBef>
                <a:spcPts val="0"/>
              </a:spcBef>
              <a:buNone/>
            </a:pPr>
            <a:r>
              <a:rPr lang="en" sz="1400">
                <a:solidFill>
                  <a:schemeClr val="dk2"/>
                </a:solidFill>
              </a:rPr>
              <a:t>Recent advances in separations and mass spectrometry have enabled a surge in the comprehensive analysis of cellular proteins, commonly referred to as proteomics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74" name="Shape 7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</a:pPr>
            <a:r>
              <a:rPr lang="en"/>
              <a:t>Electrospray ionization for mass spectrometry of large biomolecules Fenn et. all. 1989</a:t>
            </a:r>
          </a:p>
          <a:p>
            <a:pPr>
              <a:spcBef>
                <a:spcPts val="0"/>
              </a:spcBef>
              <a:buNone/>
            </a:pPr>
            <a:endParaRPr/>
          </a:p>
          <a:p>
            <a:pPr>
              <a:spcBef>
                <a:spcPts val="0"/>
              </a:spcBef>
              <a:buNone/>
            </a:pPr>
            <a:r>
              <a:rPr/>
              <a:t>----- Meeting Notes (7/21/15 18:12) -----</a:t>
            </a:r>
          </a:p>
          <a:p>
            <a:pPr>
              <a:spcBef>
                <a:spcPts val="0"/>
              </a:spcBef>
              <a:buNone/>
            </a:pPr>
            <a:r>
              <a:rPr/>
              <a:t>Tirar o ponto</a:t>
            </a:r>
          </a:p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08670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8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2" name="Shape 8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6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6" name="Shape 6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rtl="0">
              <a:spcBef>
                <a:spcPts val="0"/>
              </a:spcBef>
              <a:buNone/>
            </a:pPr>
            <a:r>
              <a:rPr lang="en" dirty="0" smtClean="0"/>
              <a:t>Proteomic Analysis</a:t>
            </a:r>
          </a:p>
          <a:p>
            <a:pPr rtl="0">
              <a:spcBef>
                <a:spcPts val="0"/>
              </a:spcBef>
              <a:buNone/>
            </a:pPr>
            <a:r>
              <a:rPr lang="en" dirty="0" smtClean="0"/>
              <a:t>[</a:t>
            </a:r>
            <a:r>
              <a:rPr lang="en" dirty="0"/>
              <a:t>4] - </a:t>
            </a:r>
            <a:r>
              <a:rPr lang="en" dirty="0">
                <a:solidFill>
                  <a:schemeClr val="dk2"/>
                </a:solidFill>
              </a:rPr>
              <a:t>Arnold, R. J., Jayasankar, N., Aggarwal, D., Tang, H., &amp; Radivojac, P. (2006). A machine learning approach to predicting peptide fragmentation spectra. </a:t>
            </a:r>
            <a:r>
              <a:rPr lang="en" i="1" dirty="0">
                <a:solidFill>
                  <a:schemeClr val="dk2"/>
                </a:solidFill>
              </a:rPr>
              <a:t>Pacific Symposium on Biocomputing. Pacific Symposium on Biocomputing</a:t>
            </a:r>
            <a:r>
              <a:rPr lang="en" dirty="0">
                <a:solidFill>
                  <a:schemeClr val="dk2"/>
                </a:solidFill>
              </a:rPr>
              <a:t>, 219–30.</a:t>
            </a:r>
          </a:p>
          <a:p>
            <a:pPr rtl="0">
              <a:spcBef>
                <a:spcPts val="0"/>
              </a:spcBef>
              <a:buNone/>
            </a:pPr>
            <a:endParaRPr lang="x-none" dirty="0" smtClean="0">
              <a:solidFill>
                <a:schemeClr val="dk2"/>
              </a:solidFill>
            </a:endParaRPr>
          </a:p>
          <a:p>
            <a:pPr rtl="0">
              <a:spcBef>
                <a:spcPts val="0"/>
              </a:spcBef>
              <a:buNone/>
            </a:pPr>
            <a:r>
              <a:rPr lang="x-none" dirty="0" smtClean="0">
                <a:solidFill>
                  <a:schemeClr val="dk2"/>
                </a:solidFill>
              </a:rPr>
              <a:t>Blood Serum proteomics analysis</a:t>
            </a:r>
            <a:endParaRPr dirty="0">
              <a:solidFill>
                <a:schemeClr val="dk2"/>
              </a:solidFill>
            </a:endParaRPr>
          </a:p>
          <a:p>
            <a:pPr rtl="0">
              <a:spcBef>
                <a:spcPts val="0"/>
              </a:spcBef>
              <a:buNone/>
            </a:pPr>
            <a:r>
              <a:rPr lang="en" dirty="0">
                <a:solidFill>
                  <a:schemeClr val="dk2"/>
                </a:solidFill>
              </a:rPr>
              <a:t>[2] - Lilien, R. H., Farid, H., &amp; Donald, B. R. (2003). Probabilistic Disease Classification of Expression-Dependent Proteomic Data from Mass Spectrometry of Human Serum. </a:t>
            </a:r>
            <a:r>
              <a:rPr lang="en" i="1" dirty="0">
                <a:solidFill>
                  <a:schemeClr val="dk2"/>
                </a:solidFill>
              </a:rPr>
              <a:t>Journal of Computational Biology</a:t>
            </a:r>
            <a:r>
              <a:rPr lang="en" dirty="0">
                <a:solidFill>
                  <a:schemeClr val="dk2"/>
                </a:solidFill>
              </a:rPr>
              <a:t>, </a:t>
            </a:r>
            <a:r>
              <a:rPr lang="en" i="1" dirty="0">
                <a:solidFill>
                  <a:schemeClr val="dk2"/>
                </a:solidFill>
              </a:rPr>
              <a:t>10</a:t>
            </a:r>
            <a:r>
              <a:rPr lang="en" dirty="0">
                <a:solidFill>
                  <a:schemeClr val="dk2"/>
                </a:solidFill>
              </a:rPr>
              <a:t>(6), 925–946.</a:t>
            </a:r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en" dirty="0" smtClean="0">
                <a:solidFill>
                  <a:schemeClr val="dk2"/>
                </a:solidFill>
              </a:rPr>
              <a:t>[</a:t>
            </a:r>
            <a:r>
              <a:rPr lang="en" dirty="0">
                <a:solidFill>
                  <a:schemeClr val="dk2"/>
                </a:solidFill>
              </a:rPr>
              <a:t>5] - Conrads, T. P., Fusaro, V. a, Ross, S., Johann, D., Rajapakse, V., Hitt, B. a, … Veenstra, T. D. (2004). High-resolution serum proteomic features for ovarian cancer detection. </a:t>
            </a:r>
            <a:r>
              <a:rPr lang="en" i="1" dirty="0">
                <a:solidFill>
                  <a:schemeClr val="dk2"/>
                </a:solidFill>
              </a:rPr>
              <a:t>Endocrine-Related Cancer</a:t>
            </a:r>
            <a:r>
              <a:rPr lang="en" dirty="0">
                <a:solidFill>
                  <a:schemeClr val="dk2"/>
                </a:solidFill>
              </a:rPr>
              <a:t>, </a:t>
            </a:r>
            <a:r>
              <a:rPr lang="en" i="1" dirty="0">
                <a:solidFill>
                  <a:schemeClr val="dk2"/>
                </a:solidFill>
              </a:rPr>
              <a:t>11</a:t>
            </a:r>
            <a:r>
              <a:rPr lang="en" dirty="0">
                <a:solidFill>
                  <a:schemeClr val="dk2"/>
                </a:solidFill>
              </a:rPr>
              <a:t>(2), 163–78.</a:t>
            </a:r>
          </a:p>
          <a:p>
            <a:pPr rtl="0">
              <a:lnSpc>
                <a:spcPct val="115000"/>
              </a:lnSpc>
              <a:spcBef>
                <a:spcPts val="0"/>
              </a:spcBef>
              <a:buNone/>
            </a:pPr>
            <a:r>
              <a:rPr lang="en" dirty="0" smtClean="0">
                <a:solidFill>
                  <a:schemeClr val="dk2"/>
                </a:solidFill>
              </a:rPr>
              <a:t>[</a:t>
            </a:r>
            <a:r>
              <a:rPr lang="en" dirty="0">
                <a:solidFill>
                  <a:schemeClr val="dk2"/>
                </a:solidFill>
              </a:rPr>
              <a:t>6] - Petricoin, E. F., Ardekani, A. M., Hitt, B. A., Levine, P. J., Fusaro, V. A., Steinberg, S. M., … Liotta, L. A. (2002). Use of proteomic patterns in serum to identify ovarian cancer. </a:t>
            </a:r>
            <a:r>
              <a:rPr lang="en" i="1" dirty="0">
                <a:solidFill>
                  <a:schemeClr val="dk2"/>
                </a:solidFill>
              </a:rPr>
              <a:t>Lancet</a:t>
            </a:r>
            <a:r>
              <a:rPr lang="en" dirty="0">
                <a:solidFill>
                  <a:schemeClr val="dk2"/>
                </a:solidFill>
              </a:rPr>
              <a:t>, </a:t>
            </a:r>
            <a:r>
              <a:rPr lang="en" i="1" dirty="0">
                <a:solidFill>
                  <a:schemeClr val="dk2"/>
                </a:solidFill>
              </a:rPr>
              <a:t>359</a:t>
            </a:r>
            <a:r>
              <a:rPr lang="en" dirty="0">
                <a:solidFill>
                  <a:schemeClr val="dk2"/>
                </a:solidFill>
              </a:rPr>
              <a:t>, 572–577. doi:10.1016/S0140-6736(02)07746-2</a:t>
            </a:r>
          </a:p>
          <a:p>
            <a:pPr rtl="0">
              <a:lnSpc>
                <a:spcPct val="115000"/>
              </a:lnSpc>
              <a:spcBef>
                <a:spcPts val="0"/>
              </a:spcBef>
              <a:buNone/>
            </a:pPr>
            <a:r>
              <a:rPr lang="en" dirty="0" smtClean="0">
                <a:solidFill>
                  <a:schemeClr val="dk1"/>
                </a:solidFill>
              </a:rPr>
              <a:t>[</a:t>
            </a:r>
            <a:r>
              <a:rPr lang="en" dirty="0">
                <a:solidFill>
                  <a:schemeClr val="dk1"/>
                </a:solidFill>
              </a:rPr>
              <a:t>7] - Petricoin, E. F., Ornstein, D. K., Paweletz, C. P., Ardekani, A., Hackett, P. S., Hitt, B. a, … Liotta, L. a. (2002). Serum proteomic patterns for detection of prostate cancer. </a:t>
            </a:r>
            <a:r>
              <a:rPr lang="en" i="1" dirty="0">
                <a:solidFill>
                  <a:schemeClr val="dk1"/>
                </a:solidFill>
              </a:rPr>
              <a:t>Journal of the National Cancer Institute</a:t>
            </a:r>
          </a:p>
          <a:p>
            <a:pPr rtl="0">
              <a:lnSpc>
                <a:spcPct val="115000"/>
              </a:lnSpc>
              <a:spcBef>
                <a:spcPts val="0"/>
              </a:spcBef>
              <a:buNone/>
            </a:pPr>
            <a:r>
              <a:rPr lang="en" dirty="0" smtClean="0">
                <a:solidFill>
                  <a:schemeClr val="dk1"/>
                </a:solidFill>
              </a:rPr>
              <a:t>[</a:t>
            </a:r>
            <a:r>
              <a:rPr lang="en" dirty="0">
                <a:solidFill>
                  <a:schemeClr val="dk1"/>
                </a:solidFill>
              </a:rPr>
              <a:t>28] - Li, J., Zhang, Z., Rosenzweig, J., Wang, Y. Y., &amp; Chan, D. W. (2002). Proteomics and Bioinformatics Approaches for Identification of Serum Biomarkers to Detect Breast Cancer. </a:t>
            </a:r>
            <a:r>
              <a:rPr lang="en" i="1" dirty="0">
                <a:solidFill>
                  <a:schemeClr val="dk1"/>
                </a:solidFill>
              </a:rPr>
              <a:t>Clinical Chemistry</a:t>
            </a:r>
          </a:p>
          <a:p>
            <a:pPr rtl="0">
              <a:lnSpc>
                <a:spcPct val="115000"/>
              </a:lnSpc>
              <a:spcBef>
                <a:spcPts val="0"/>
              </a:spcBef>
              <a:buNone/>
            </a:pPr>
            <a:endParaRPr lang="x-none" i="1" dirty="0" smtClean="0">
              <a:solidFill>
                <a:schemeClr val="dk1"/>
              </a:solidFill>
            </a:endParaRPr>
          </a:p>
          <a:p>
            <a:pPr rtl="0">
              <a:lnSpc>
                <a:spcPct val="115000"/>
              </a:lnSpc>
              <a:spcBef>
                <a:spcPts val="0"/>
              </a:spcBef>
              <a:buNone/>
            </a:pPr>
            <a:endParaRPr lang="x-none" i="1" dirty="0" smtClean="0">
              <a:solidFill>
                <a:schemeClr val="dk1"/>
              </a:solidFill>
            </a:endParaRPr>
          </a:p>
          <a:p>
            <a:pPr rtl="0">
              <a:lnSpc>
                <a:spcPct val="115000"/>
              </a:lnSpc>
              <a:spcBef>
                <a:spcPts val="0"/>
              </a:spcBef>
              <a:buNone/>
            </a:pPr>
            <a:r>
              <a:rPr lang="x-none" i="0" dirty="0" smtClean="0">
                <a:solidFill>
                  <a:schemeClr val="dk1"/>
                </a:solidFill>
              </a:rPr>
              <a:t>Intact</a:t>
            </a:r>
            <a:r>
              <a:rPr lang="x-none" i="0" baseline="0" dirty="0" smtClean="0">
                <a:solidFill>
                  <a:schemeClr val="dk1"/>
                </a:solidFill>
              </a:rPr>
              <a:t> cell analysis</a:t>
            </a:r>
            <a:endParaRPr i="0" dirty="0">
              <a:solidFill>
                <a:schemeClr val="dk1"/>
              </a:solidFill>
            </a:endParaRPr>
          </a:p>
          <a:p>
            <a:pPr rtl="0">
              <a:lnSpc>
                <a:spcPct val="115000"/>
              </a:lnSpc>
              <a:spcBef>
                <a:spcPts val="0"/>
              </a:spcBef>
              <a:buNone/>
            </a:pPr>
            <a:r>
              <a:rPr lang="en" dirty="0">
                <a:solidFill>
                  <a:schemeClr val="dk2"/>
                </a:solidFill>
              </a:rPr>
              <a:t>[3] - Böhme, K., Fernández-No, I. C., Barros-Velázquez, J., Gallardo, J. M., Carlo-Mata, P., &amp; Cañas, B. (2010). Species differentiation of seafood spoilage and pathogenic gram-negative bacteria by MALDI-TOF mass fingerprinting. </a:t>
            </a:r>
            <a:r>
              <a:rPr lang="en" i="1" dirty="0">
                <a:solidFill>
                  <a:schemeClr val="dk2"/>
                </a:solidFill>
              </a:rPr>
              <a:t>Journal of Proteome Research</a:t>
            </a:r>
            <a:r>
              <a:rPr lang="en" dirty="0">
                <a:solidFill>
                  <a:schemeClr val="dk2"/>
                </a:solidFill>
              </a:rPr>
              <a:t>, 3169–3183</a:t>
            </a:r>
            <a:r>
              <a:rPr lang="en" dirty="0" smtClean="0">
                <a:solidFill>
                  <a:schemeClr val="dk2"/>
                </a:solidFill>
              </a:rPr>
              <a:t>.</a:t>
            </a:r>
            <a:endParaRPr i="1" dirty="0">
              <a:solidFill>
                <a:schemeClr val="dk1"/>
              </a:solidFill>
            </a:endParaRPr>
          </a:p>
          <a:p>
            <a:pPr marL="0" marR="0" lvl="0" indent="0" algn="l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x-none" dirty="0" smtClean="0">
                <a:solidFill>
                  <a:schemeClr val="dk1"/>
                </a:solidFill>
              </a:rPr>
              <a:t>[13] -</a:t>
            </a:r>
            <a:r>
              <a:rPr lang="en" sz="1100" dirty="0" smtClean="0">
                <a:solidFill>
                  <a:schemeClr val="dk1"/>
                </a:solidFill>
              </a:rPr>
              <a:t>Sauer, S., &amp; Kliem, M. (2010). Mass spectrometry tools for the classification and identification of bacteria. </a:t>
            </a:r>
            <a:r>
              <a:rPr lang="en" sz="1100" i="1" dirty="0" smtClean="0">
                <a:solidFill>
                  <a:schemeClr val="dk1"/>
                </a:solidFill>
              </a:rPr>
              <a:t>Nature Reviews. Microbiology</a:t>
            </a:r>
            <a:r>
              <a:rPr lang="en" sz="1100" dirty="0" smtClean="0">
                <a:solidFill>
                  <a:schemeClr val="dk1"/>
                </a:solidFill>
              </a:rPr>
              <a:t>, </a:t>
            </a:r>
            <a:r>
              <a:rPr lang="en" sz="1100" i="1" dirty="0" smtClean="0">
                <a:solidFill>
                  <a:schemeClr val="dk1"/>
                </a:solidFill>
              </a:rPr>
              <a:t>8</a:t>
            </a:r>
            <a:r>
              <a:rPr lang="en" sz="1100" dirty="0" smtClean="0">
                <a:solidFill>
                  <a:schemeClr val="dk1"/>
                </a:solidFill>
              </a:rPr>
              <a:t>(1), 74–82. doi:10.1038/nrmicro2243</a:t>
            </a:r>
          </a:p>
          <a:p>
            <a:pPr rtl="0">
              <a:lnSpc>
                <a:spcPct val="115000"/>
              </a:lnSpc>
              <a:spcBef>
                <a:spcPts val="0"/>
              </a:spcBef>
              <a:buNone/>
            </a:pPr>
            <a:endParaRPr dirty="0">
              <a:solidFill>
                <a:schemeClr val="dk1"/>
              </a:solidFill>
            </a:endParaRPr>
          </a:p>
          <a:p>
            <a:pPr rtl="0">
              <a:lnSpc>
                <a:spcPct val="115000"/>
              </a:lnSpc>
              <a:spcBef>
                <a:spcPts val="0"/>
              </a:spcBef>
              <a:buNone/>
            </a:pPr>
            <a:endParaRPr dirty="0">
              <a:solidFill>
                <a:schemeClr val="dk2"/>
              </a:solidFill>
            </a:endParaRPr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endParaRPr dirty="0">
              <a:solidFill>
                <a:schemeClr val="dk2"/>
              </a:solidFill>
            </a:endParaRPr>
          </a:p>
          <a:p>
            <a:pPr rtl="0">
              <a:spcBef>
                <a:spcPts val="0"/>
              </a:spcBef>
              <a:buNone/>
            </a:pPr>
            <a:endParaRPr dirty="0">
              <a:solidFill>
                <a:schemeClr val="dk2"/>
              </a:solidFill>
            </a:endParaRPr>
          </a:p>
          <a:p>
            <a:pPr rtl="0">
              <a:spcBef>
                <a:spcPts val="0"/>
              </a:spcBef>
              <a:buNone/>
            </a:pPr>
            <a:endParaRPr dirty="0">
              <a:solidFill>
                <a:schemeClr val="dk2"/>
              </a:solidFill>
            </a:endParaRPr>
          </a:p>
          <a:p>
            <a:pPr rtl="0">
              <a:spcBef>
                <a:spcPts val="0"/>
              </a:spcBef>
              <a:buNone/>
            </a:pPr>
            <a:endParaRPr dirty="0">
              <a:solidFill>
                <a:schemeClr val="dk2"/>
              </a:solidFill>
            </a:endParaRPr>
          </a:p>
          <a:p>
            <a:pPr>
              <a:spcBef>
                <a:spcPts val="0"/>
              </a:spcBef>
              <a:buNone/>
            </a:pPr>
            <a:endParaRPr dirty="0">
              <a:solidFill>
                <a:schemeClr val="dk2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8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0" name="Shape 9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hape 10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4" name="Shape 10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----- Meeting Notes (7/21/15 17:42) -----</a:t>
            </a:r>
          </a:p>
          <a:p>
            <a:r>
              <a:rPr lang="en-US" dirty="0"/>
              <a:t>Mudar as letras para preto</a:t>
            </a:r>
          </a:p>
        </p:txBody>
      </p:sp>
    </p:spTree>
    <p:extLst>
      <p:ext uri="{BB962C8B-B14F-4D97-AF65-F5344CB8AC3E}">
        <p14:creationId xmlns:p14="http://schemas.microsoft.com/office/powerpoint/2010/main" val="13382235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hape 15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52" name="Shape 15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Shape 16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66" name="Shape 16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hape 18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87" name="Shape 18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Shape 17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80" name="Shape 18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Shape 19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94" name="Shape 19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20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01" name="Shape 20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Diversos</a:t>
            </a:r>
            <a:r>
              <a:rPr lang="en-US" dirty="0" smtClean="0"/>
              <a:t> </a:t>
            </a:r>
            <a:r>
              <a:rPr lang="en-US" dirty="0" err="1" smtClean="0"/>
              <a:t>formatos</a:t>
            </a:r>
            <a:endParaRPr lang="en-US" dirty="0" smtClean="0"/>
          </a:p>
          <a:p>
            <a:r>
              <a:rPr lang="en-US" dirty="0" err="1" smtClean="0"/>
              <a:t>Padrão</a:t>
            </a:r>
            <a:r>
              <a:rPr lang="en-US" dirty="0" smtClean="0"/>
              <a:t> MZML</a:t>
            </a:r>
          </a:p>
          <a:p>
            <a:endParaRPr lang="en-US" dirty="0" smtClean="0"/>
          </a:p>
          <a:p>
            <a:r>
              <a:rPr lang="x-none" dirty="0" smtClean="0"/>
              <a:t>Não fazemos a conversão para raw data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Raw</a:t>
            </a:r>
            <a:r>
              <a:rPr lang="en-US" baseline="0" dirty="0" smtClean="0"/>
              <a:t> data</a:t>
            </a:r>
            <a:r>
              <a:rPr lang="en-US" dirty="0" smtClean="0"/>
              <a:t> </a:t>
            </a:r>
            <a:r>
              <a:rPr lang="en-US" dirty="0" err="1" smtClean="0"/>
              <a:t>formato</a:t>
            </a:r>
            <a:r>
              <a:rPr lang="en-US" dirty="0" smtClean="0"/>
              <a:t> Simples</a:t>
            </a:r>
          </a:p>
          <a:p>
            <a:r>
              <a:rPr lang="en-US" dirty="0" smtClean="0"/>
              <a:t>Raw data </a:t>
            </a:r>
            <a:r>
              <a:rPr lang="en-US" dirty="0" err="1" smtClean="0"/>
              <a:t>menor</a:t>
            </a:r>
            <a:r>
              <a:rPr lang="en-US" baseline="0" dirty="0" smtClean="0"/>
              <a:t> do </a:t>
            </a:r>
            <a:r>
              <a:rPr lang="en-US" baseline="0" dirty="0" err="1" smtClean="0"/>
              <a:t>que</a:t>
            </a:r>
            <a:r>
              <a:rPr lang="en-US" baseline="0" dirty="0" smtClean="0"/>
              <a:t> o MZML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8321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78215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13853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7786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----- Meeting Notes (7/21/15 17:42) -----</a:t>
            </a:r>
          </a:p>
          <a:p>
            <a:r>
              <a:rPr lang="en-US" dirty="0"/>
              <a:t>verificar espaços e pontos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516191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r>
              <a:rPr lang="en-US"/>
              <a:t>----- Meeting Notes (7/21/15 17:42) -----</a:t>
            </a:r>
          </a:p>
          <a:p>
            <a:r>
              <a:rPr lang="en-US"/>
              <a:t>Italico</a:t>
            </a:r>
          </a:p>
          <a:p>
            <a:r>
              <a:rPr lang="en-US"/>
              <a:t>verificar os nomes .</a:t>
            </a:r>
          </a:p>
        </p:txBody>
      </p:sp>
    </p:spTree>
    <p:extLst>
      <p:ext uri="{BB962C8B-B14F-4D97-AF65-F5344CB8AC3E}">
        <p14:creationId xmlns:p14="http://schemas.microsoft.com/office/powerpoint/2010/main" val="66946770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r>
              <a:rPr lang="en-US"/>
              <a:t>----- Meeting Notes (7/21/15 17:42) -----</a:t>
            </a:r>
          </a:p>
          <a:p>
            <a:r>
              <a:rPr lang="en-US"/>
              <a:t>Nome em italico</a:t>
            </a:r>
          </a:p>
        </p:txBody>
      </p:sp>
    </p:spTree>
    <p:extLst>
      <p:ext uri="{BB962C8B-B14F-4D97-AF65-F5344CB8AC3E}">
        <p14:creationId xmlns:p14="http://schemas.microsoft.com/office/powerpoint/2010/main" val="177820858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r>
              <a:rPr lang="en-US"/>
              <a:t>----- Meeting Notes (7/21/15 15:02) -----</a:t>
            </a:r>
          </a:p>
          <a:p>
            <a:r>
              <a:rPr lang="en-US"/>
              <a:t>Todos os casos</a:t>
            </a:r>
          </a:p>
        </p:txBody>
      </p:sp>
    </p:spTree>
    <p:extLst>
      <p:ext uri="{BB962C8B-B14F-4D97-AF65-F5344CB8AC3E}">
        <p14:creationId xmlns:p14="http://schemas.microsoft.com/office/powerpoint/2010/main" val="415525171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r>
              <a:rPr lang="en-US"/>
              <a:t>----- Meeting Notes (7/21/15 17:42) -----</a:t>
            </a:r>
          </a:p>
          <a:p>
            <a:r>
              <a:rPr lang="en-US"/>
              <a:t>Jogar ela Pra </a:t>
            </a:r>
          </a:p>
        </p:txBody>
      </p:sp>
    </p:spTree>
    <p:extLst>
      <p:ext uri="{BB962C8B-B14F-4D97-AF65-F5344CB8AC3E}">
        <p14:creationId xmlns:p14="http://schemas.microsoft.com/office/powerpoint/2010/main" val="252385555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r>
              <a:rPr lang="en-US"/>
              <a:t>----- Meeting Notes (7/21/15 17:56) -----</a:t>
            </a:r>
          </a:p>
          <a:p>
            <a:r>
              <a:rPr lang="en-US"/>
              <a:t>Criar um novo slide para apresentar aquisição do software e repositório.</a:t>
            </a:r>
          </a:p>
        </p:txBody>
      </p:sp>
    </p:spTree>
    <p:extLst>
      <p:ext uri="{BB962C8B-B14F-4D97-AF65-F5344CB8AC3E}">
        <p14:creationId xmlns:p14="http://schemas.microsoft.com/office/powerpoint/2010/main" val="90228890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Shape 207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08" name="Shape 20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dirty="0"/>
          </a:p>
          <a:p>
            <a:pPr>
              <a:spcBef>
                <a:spcPts val="0"/>
              </a:spcBef>
              <a:buNone/>
            </a:pPr>
            <a:r>
              <a:rPr dirty="0"/>
              <a:t>----- Meeting Notes (7/21/15 17:56) -----</a:t>
            </a:r>
          </a:p>
          <a:p>
            <a:pPr>
              <a:spcBef>
                <a:spcPts val="0"/>
              </a:spcBef>
              <a:buNone/>
            </a:pPr>
            <a:r>
              <a:rPr dirty="0"/>
              <a:t>Dr Luciano Huergo</a:t>
            </a:r>
          </a:p>
          <a:p>
            <a:pPr>
              <a:spcBef>
                <a:spcPts val="0"/>
              </a:spcBef>
              <a:buNone/>
            </a:pPr>
            <a:endParaRPr dirty="0"/>
          </a:p>
          <a:p>
            <a:pPr>
              <a:spcBef>
                <a:spcPts val="0"/>
              </a:spcBef>
              <a:buNone/>
            </a:pPr>
            <a:r>
              <a:rPr dirty="0"/>
              <a:t>Tirar CNPQ, Reuni.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Shape 21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15" name="Shape 21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Shape 22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22" name="Shape 22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Shape 228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29" name="Shape 22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Shape 23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36" name="Shape 23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Shape 242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43" name="Shape 24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Shape 24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50" name="Shape 25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Shape 25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57" name="Shape 25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Shape 26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64" name="Shape 26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9"/>
          <p:cNvSpPr/>
          <p:nvPr/>
        </p:nvSpPr>
        <p:spPr>
          <a:xfrm rot="10800000" flipH="1">
            <a:off x="0" y="4124512"/>
            <a:ext cx="8458200" cy="9497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0" name="Shape 10"/>
          <p:cNvSpPr txBox="1">
            <a:spLocks noGrp="1"/>
          </p:cNvSpPr>
          <p:nvPr>
            <p:ph type="ctrTitle"/>
          </p:nvPr>
        </p:nvSpPr>
        <p:spPr>
          <a:xfrm>
            <a:off x="685800" y="1734342"/>
            <a:ext cx="7772400" cy="22454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None/>
              <a:defRPr sz="7200" b="1" i="0" u="none" strike="noStrike" cap="none" baseline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l" rtl="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None/>
              <a:defRPr sz="7200" b="1" i="0" u="none" strike="noStrike" cap="none" baseline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rtl="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None/>
              <a:defRPr sz="7200" b="1" i="0" u="none" strike="noStrike" cap="none" baseline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rtl="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None/>
              <a:defRPr sz="7200" b="1" i="0" u="none" strike="noStrike" cap="none" baseline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rtl="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None/>
              <a:defRPr sz="7200" b="1" i="0" u="none" strike="noStrike" cap="none" baseline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rtl="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None/>
              <a:defRPr sz="7200" b="1" i="0" u="none" strike="noStrike" cap="none" baseline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rtl="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None/>
              <a:defRPr sz="7200" b="1" i="0" u="none" strike="noStrike" cap="none" baseline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rtl="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None/>
              <a:defRPr sz="7200" b="1" i="0" u="none" strike="noStrike" cap="none" baseline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rtl="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None/>
              <a:defRPr sz="7200" b="1" i="0" u="none" strike="noStrike" cap="none" baseline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Shape 11"/>
          <p:cNvSpPr txBox="1">
            <a:spLocks noGrp="1"/>
          </p:cNvSpPr>
          <p:nvPr>
            <p:ph type="subTitle" idx="1"/>
          </p:nvPr>
        </p:nvSpPr>
        <p:spPr>
          <a:xfrm>
            <a:off x="685800" y="4124476"/>
            <a:ext cx="7772400" cy="9497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l" rtl="0">
              <a:spcBef>
                <a:spcPts val="0"/>
              </a:spcBef>
              <a:buClr>
                <a:schemeClr val="lt2"/>
              </a:buClr>
              <a:buSzPct val="100000"/>
              <a:buFont typeface="Arial"/>
              <a:buNone/>
              <a:defRPr sz="3000" b="1" i="0" u="none" strike="noStrike" cap="none" baseline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l" rtl="0">
              <a:spcBef>
                <a:spcPts val="0"/>
              </a:spcBef>
              <a:buClr>
                <a:schemeClr val="lt2"/>
              </a:buClr>
              <a:buSzPct val="100000"/>
              <a:buFont typeface="Arial"/>
              <a:buNone/>
              <a:defRPr sz="3000" b="1" i="0" u="none" strike="noStrike" cap="none" baseline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rtl="0">
              <a:spcBef>
                <a:spcPts val="0"/>
              </a:spcBef>
              <a:buClr>
                <a:schemeClr val="lt2"/>
              </a:buClr>
              <a:buSzPct val="100000"/>
              <a:buFont typeface="Arial"/>
              <a:buNone/>
              <a:defRPr sz="3000" b="1" i="0" u="none" strike="noStrike" cap="none" baseline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rtl="0">
              <a:spcBef>
                <a:spcPts val="0"/>
              </a:spcBef>
              <a:buClr>
                <a:schemeClr val="lt2"/>
              </a:buClr>
              <a:buSzPct val="100000"/>
              <a:buFont typeface="Arial"/>
              <a:buNone/>
              <a:defRPr sz="3000" b="1" i="0" u="none" strike="noStrike" cap="none" baseline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rtl="0">
              <a:spcBef>
                <a:spcPts val="0"/>
              </a:spcBef>
              <a:buClr>
                <a:schemeClr val="lt2"/>
              </a:buClr>
              <a:buSzPct val="100000"/>
              <a:buFont typeface="Arial"/>
              <a:buNone/>
              <a:defRPr sz="3000" b="1" i="0" u="none" strike="noStrike" cap="none" baseline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rtl="0">
              <a:spcBef>
                <a:spcPts val="0"/>
              </a:spcBef>
              <a:buClr>
                <a:schemeClr val="lt2"/>
              </a:buClr>
              <a:buSzPct val="100000"/>
              <a:buFont typeface="Arial"/>
              <a:buNone/>
              <a:defRPr sz="3000" b="1" i="0" u="none" strike="noStrike" cap="none" baseline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rtl="0">
              <a:spcBef>
                <a:spcPts val="0"/>
              </a:spcBef>
              <a:buClr>
                <a:schemeClr val="lt2"/>
              </a:buClr>
              <a:buSzPct val="100000"/>
              <a:buFont typeface="Arial"/>
              <a:buNone/>
              <a:defRPr sz="3000" b="1" i="0" u="none" strike="noStrike" cap="none" baseline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rtl="0">
              <a:spcBef>
                <a:spcPts val="0"/>
              </a:spcBef>
              <a:buClr>
                <a:schemeClr val="lt2"/>
              </a:buClr>
              <a:buSzPct val="100000"/>
              <a:buFont typeface="Arial"/>
              <a:buNone/>
              <a:defRPr sz="3000" b="1" i="0" u="none" strike="noStrike" cap="none" baseline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rtl="0">
              <a:spcBef>
                <a:spcPts val="0"/>
              </a:spcBef>
              <a:buClr>
                <a:schemeClr val="lt2"/>
              </a:buClr>
              <a:buSzPct val="100000"/>
              <a:buFont typeface="Arial"/>
              <a:buNone/>
              <a:defRPr sz="3000" b="1" i="0" u="none" strike="noStrike" cap="none" baseline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3"/>
          <p:cNvSpPr/>
          <p:nvPr/>
        </p:nvSpPr>
        <p:spPr>
          <a:xfrm>
            <a:off x="0" y="274636"/>
            <a:ext cx="8686800" cy="1554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4" name="Shape 14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5221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rtl="0">
              <a:spcBef>
                <a:spcPts val="0"/>
              </a:spcBef>
              <a:defRPr>
                <a:solidFill>
                  <a:schemeClr val="lt1"/>
                </a:solidFill>
              </a:defRPr>
            </a:lvl1pPr>
            <a:lvl2pPr rtl="0">
              <a:spcBef>
                <a:spcPts val="0"/>
              </a:spcBef>
              <a:defRPr>
                <a:solidFill>
                  <a:schemeClr val="lt1"/>
                </a:solidFill>
              </a:defRPr>
            </a:lvl2pPr>
            <a:lvl3pPr rtl="0">
              <a:spcBef>
                <a:spcPts val="0"/>
              </a:spcBef>
              <a:defRPr>
                <a:solidFill>
                  <a:schemeClr val="lt1"/>
                </a:solidFill>
              </a:defRPr>
            </a:lvl3pPr>
            <a:lvl4pPr rtl="0">
              <a:spcBef>
                <a:spcPts val="0"/>
              </a:spcBef>
              <a:defRPr>
                <a:solidFill>
                  <a:schemeClr val="lt1"/>
                </a:solidFill>
              </a:defRPr>
            </a:lvl4pPr>
            <a:lvl5pPr rtl="0">
              <a:spcBef>
                <a:spcPts val="0"/>
              </a:spcBef>
              <a:defRPr>
                <a:solidFill>
                  <a:schemeClr val="lt1"/>
                </a:solidFill>
              </a:defRPr>
            </a:lvl5pPr>
            <a:lvl6pPr rtl="0">
              <a:spcBef>
                <a:spcPts val="0"/>
              </a:spcBef>
              <a:defRPr>
                <a:solidFill>
                  <a:schemeClr val="lt1"/>
                </a:solidFill>
              </a:defRPr>
            </a:lvl6pPr>
            <a:lvl7pPr rtl="0">
              <a:spcBef>
                <a:spcPts val="0"/>
              </a:spcBef>
              <a:defRPr>
                <a:solidFill>
                  <a:schemeClr val="lt1"/>
                </a:solidFill>
              </a:defRPr>
            </a:lvl7pPr>
            <a:lvl8pPr rtl="0">
              <a:spcBef>
                <a:spcPts val="0"/>
              </a:spcBef>
              <a:defRPr>
                <a:solidFill>
                  <a:schemeClr val="lt1"/>
                </a:solidFill>
              </a:defRPr>
            </a:lvl8pPr>
            <a:lvl9pPr rtl="0">
              <a:spcBef>
                <a:spcPts val="0"/>
              </a:spcBef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body" idx="1"/>
          </p:nvPr>
        </p:nvSpPr>
        <p:spPr>
          <a:xfrm>
            <a:off x="457200" y="1947332"/>
            <a:ext cx="8229600" cy="46202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lvl3pPr>
            <a:lvl4pPr marL="16002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lvl4pPr>
            <a:lvl5pPr marL="20574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»"/>
              <a:tabLst/>
              <a:defRPr sz="1800"/>
            </a:lvl5pPr>
            <a:lvl6pPr rtl="0">
              <a:spcBef>
                <a:spcPts val="0"/>
              </a:spcBef>
              <a:defRPr sz="1800"/>
            </a:lvl6pPr>
            <a:lvl7pPr rtl="0">
              <a:spcBef>
                <a:spcPts val="0"/>
              </a:spcBef>
              <a:defRPr sz="1800"/>
            </a:lvl7pPr>
            <a:lvl8pPr rtl="0">
              <a:spcBef>
                <a:spcPts val="0"/>
              </a:spcBef>
              <a:defRPr sz="1800"/>
            </a:lvl8pPr>
            <a:lvl9pPr rtl="0">
              <a:spcBef>
                <a:spcPts val="0"/>
              </a:spcBef>
              <a:defRPr sz="1800"/>
            </a:lvl9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x-none" sz="3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Click to edit Master text styles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x-none" sz="2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Second level</a:t>
            </a:r>
          </a:p>
          <a:p>
            <a:pPr marL="1143000" marR="0" lvl="2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x-none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Third level</a:t>
            </a:r>
          </a:p>
          <a:p>
            <a:pPr marL="1600200" marR="0" lvl="3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x-none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Fourth level</a:t>
            </a:r>
          </a:p>
          <a:p>
            <a:pPr marL="2057400" marR="0" lvl="4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»"/>
              <a:tabLst/>
              <a:defRPr/>
            </a:pPr>
            <a:r>
              <a:rPr kumimoji="0" lang="x-none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Fifth level</a:t>
            </a: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endParaRPr dirty="0"/>
          </a:p>
        </p:txBody>
      </p:sp>
      <p:sp>
        <p:nvSpPr>
          <p:cNvPr id="16" name="Shape 16"/>
          <p:cNvSpPr txBox="1">
            <a:spLocks noGrp="1"/>
          </p:cNvSpPr>
          <p:nvPr>
            <p:ph type="sldNum" idx="12"/>
          </p:nvPr>
        </p:nvSpPr>
        <p:spPr>
          <a:xfrm>
            <a:off x="8240995" y="6333125"/>
            <a:ext cx="864599" cy="524999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 rtl="0">
              <a:spcBef>
                <a:spcPts val="0"/>
              </a:spcBef>
              <a:buNone/>
              <a:defRPr/>
            </a:lvl1pPr>
          </a:lstStyle>
          <a:p>
            <a:pPr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r>
              <a:rPr lang="en" dirty="0"/>
              <a:t>/</a:t>
            </a:r>
            <a:r>
              <a:rPr lang="en" dirty="0" smtClean="0"/>
              <a:t>37</a:t>
            </a:r>
            <a:endParaRPr lang="e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and Two Columns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/>
          <p:nvPr/>
        </p:nvSpPr>
        <p:spPr>
          <a:xfrm>
            <a:off x="0" y="274636"/>
            <a:ext cx="8686800" cy="1554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9" name="Shape 19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5221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buSzPct val="100000"/>
              <a:buFont typeface="Arial"/>
              <a:buNone/>
              <a:defRPr sz="48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l" rtl="0">
              <a:spcBef>
                <a:spcPts val="0"/>
              </a:spcBef>
              <a:buSzPct val="100000"/>
              <a:buFont typeface="Arial"/>
              <a:buNone/>
              <a:defRPr sz="48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rtl="0">
              <a:spcBef>
                <a:spcPts val="0"/>
              </a:spcBef>
              <a:buSzPct val="100000"/>
              <a:buFont typeface="Arial"/>
              <a:buNone/>
              <a:defRPr sz="48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rtl="0">
              <a:spcBef>
                <a:spcPts val="0"/>
              </a:spcBef>
              <a:buSzPct val="100000"/>
              <a:buFont typeface="Arial"/>
              <a:buNone/>
              <a:defRPr sz="48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rtl="0">
              <a:spcBef>
                <a:spcPts val="0"/>
              </a:spcBef>
              <a:buSzPct val="100000"/>
              <a:buFont typeface="Arial"/>
              <a:buNone/>
              <a:defRPr sz="48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rtl="0">
              <a:spcBef>
                <a:spcPts val="0"/>
              </a:spcBef>
              <a:buSzPct val="100000"/>
              <a:buFont typeface="Arial"/>
              <a:buNone/>
              <a:defRPr sz="48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rtl="0">
              <a:spcBef>
                <a:spcPts val="0"/>
              </a:spcBef>
              <a:buSzPct val="100000"/>
              <a:buFont typeface="Arial"/>
              <a:buNone/>
              <a:defRPr sz="48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rtl="0">
              <a:spcBef>
                <a:spcPts val="0"/>
              </a:spcBef>
              <a:buSzPct val="100000"/>
              <a:buFont typeface="Arial"/>
              <a:buNone/>
              <a:defRPr sz="48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rtl="0">
              <a:spcBef>
                <a:spcPts val="0"/>
              </a:spcBef>
              <a:buSzPct val="100000"/>
              <a:buFont typeface="Arial"/>
              <a:buNone/>
              <a:defRPr sz="48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Shape 20"/>
          <p:cNvSpPr txBox="1">
            <a:spLocks noGrp="1"/>
          </p:cNvSpPr>
          <p:nvPr>
            <p:ph type="body" idx="1"/>
          </p:nvPr>
        </p:nvSpPr>
        <p:spPr>
          <a:xfrm>
            <a:off x="457200" y="1947332"/>
            <a:ext cx="4030200" cy="46202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lvl3pPr>
            <a:lvl4pPr marL="16002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lvl4pPr>
            <a:lvl5pPr marL="20574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»"/>
              <a:tabLst/>
              <a:defRPr sz="1800"/>
            </a:lvl5pPr>
            <a:lvl6pPr rtl="0">
              <a:spcBef>
                <a:spcPts val="0"/>
              </a:spcBef>
              <a:defRPr sz="1800"/>
            </a:lvl6pPr>
            <a:lvl7pPr rtl="0">
              <a:spcBef>
                <a:spcPts val="0"/>
              </a:spcBef>
              <a:defRPr sz="1800"/>
            </a:lvl7pPr>
            <a:lvl8pPr rtl="0">
              <a:spcBef>
                <a:spcPts val="0"/>
              </a:spcBef>
              <a:defRPr sz="1800"/>
            </a:lvl8pPr>
            <a:lvl9pPr rtl="0">
              <a:spcBef>
                <a:spcPts val="0"/>
              </a:spcBef>
              <a:defRPr sz="1800"/>
            </a:lvl9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x-none" sz="3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Click to edit Master text styles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x-none" sz="2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Second level</a:t>
            </a:r>
          </a:p>
          <a:p>
            <a:pPr marL="1143000" marR="0" lvl="2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x-none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Third level</a:t>
            </a:r>
          </a:p>
          <a:p>
            <a:pPr marL="1600200" marR="0" lvl="3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x-none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Fourth level</a:t>
            </a:r>
          </a:p>
          <a:p>
            <a:pPr marL="2057400" marR="0" lvl="4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»"/>
              <a:tabLst/>
              <a:defRPr/>
            </a:pPr>
            <a:r>
              <a:rPr kumimoji="0" lang="x-none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Fifth level</a:t>
            </a: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endParaRPr dirty="0"/>
          </a:p>
        </p:txBody>
      </p:sp>
      <p:sp>
        <p:nvSpPr>
          <p:cNvPr id="21" name="Shape 21"/>
          <p:cNvSpPr txBox="1">
            <a:spLocks noGrp="1"/>
          </p:cNvSpPr>
          <p:nvPr>
            <p:ph type="body" idx="2"/>
          </p:nvPr>
        </p:nvSpPr>
        <p:spPr>
          <a:xfrm>
            <a:off x="4656667" y="1949211"/>
            <a:ext cx="4030200" cy="46202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lvl3pPr>
            <a:lvl4pPr marL="16002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lvl4pPr>
            <a:lvl5pPr marL="20574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»"/>
              <a:tabLst/>
              <a:defRPr sz="1800"/>
            </a:lvl5pPr>
            <a:lvl6pPr rtl="0">
              <a:spcBef>
                <a:spcPts val="0"/>
              </a:spcBef>
              <a:defRPr sz="1800"/>
            </a:lvl6pPr>
            <a:lvl7pPr rtl="0">
              <a:spcBef>
                <a:spcPts val="0"/>
              </a:spcBef>
              <a:defRPr sz="1800"/>
            </a:lvl7pPr>
            <a:lvl8pPr rtl="0">
              <a:spcBef>
                <a:spcPts val="0"/>
              </a:spcBef>
              <a:defRPr sz="1800"/>
            </a:lvl8pPr>
            <a:lvl9pPr rtl="0">
              <a:spcBef>
                <a:spcPts val="0"/>
              </a:spcBef>
              <a:defRPr sz="1800"/>
            </a:lvl9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x-none" sz="3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Click to edit Master text styles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x-none" sz="2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Second level</a:t>
            </a:r>
          </a:p>
          <a:p>
            <a:pPr marL="1143000" marR="0" lvl="2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x-none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Third level</a:t>
            </a:r>
          </a:p>
          <a:p>
            <a:pPr marL="1600200" marR="0" lvl="3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x-none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Fourth level</a:t>
            </a:r>
          </a:p>
          <a:p>
            <a:pPr marL="2057400" marR="0" lvl="4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»"/>
              <a:tabLst/>
              <a:defRPr/>
            </a:pPr>
            <a:r>
              <a:rPr kumimoji="0" lang="x-none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Fifth level</a:t>
            </a: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endParaRPr dirty="0"/>
          </a:p>
        </p:txBody>
      </p:sp>
      <p:sp>
        <p:nvSpPr>
          <p:cNvPr id="22" name="Shape 22"/>
          <p:cNvSpPr txBox="1">
            <a:spLocks noGrp="1"/>
          </p:cNvSpPr>
          <p:nvPr>
            <p:ph type="sldNum" idx="12"/>
          </p:nvPr>
        </p:nvSpPr>
        <p:spPr>
          <a:xfrm>
            <a:off x="8098417" y="6333125"/>
            <a:ext cx="1007100" cy="524999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>
              <a:spcBef>
                <a:spcPts val="0"/>
              </a:spcBef>
              <a:buNone/>
              <a:defRPr/>
            </a:lvl1pPr>
          </a:lstStyle>
          <a:p>
            <a:pPr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r>
              <a:rPr lang="en" dirty="0"/>
              <a:t>/</a:t>
            </a:r>
            <a:r>
              <a:rPr lang="en" dirty="0" smtClean="0"/>
              <a:t>37</a:t>
            </a:r>
            <a:endParaRPr lang="e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aption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28"/>
          <p:cNvSpPr/>
          <p:nvPr/>
        </p:nvSpPr>
        <p:spPr>
          <a:xfrm>
            <a:off x="0" y="5875078"/>
            <a:ext cx="8686800" cy="692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29" name="Shape 29"/>
          <p:cNvSpPr txBox="1">
            <a:spLocks noGrp="1"/>
          </p:cNvSpPr>
          <p:nvPr>
            <p:ph type="body" idx="1"/>
          </p:nvPr>
        </p:nvSpPr>
        <p:spPr>
          <a:xfrm>
            <a:off x="457200" y="5875078"/>
            <a:ext cx="8229600" cy="692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  <a:defRPr sz="2400" b="1" i="0">
                <a:solidFill>
                  <a:schemeClr val="lt1"/>
                </a:solidFill>
              </a:defRPr>
            </a:lvl1pPr>
            <a:lvl2pPr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ourier New"/>
              <a:buChar char="o"/>
              <a:defRPr sz="2400" b="1" i="0">
                <a:solidFill>
                  <a:schemeClr val="lt1"/>
                </a:solidFill>
              </a:defRPr>
            </a:lvl2pPr>
            <a:lvl3pPr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Wingdings"/>
              <a:buChar char="§"/>
              <a:defRPr sz="2400" b="1" i="0">
                <a:solidFill>
                  <a:schemeClr val="lt1"/>
                </a:solidFill>
              </a:defRPr>
            </a:lvl3pPr>
            <a:lvl4pPr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  <a:defRPr sz="2400" b="1" i="0">
                <a:solidFill>
                  <a:schemeClr val="lt1"/>
                </a:solidFill>
              </a:defRPr>
            </a:lvl4pPr>
            <a:lvl5pPr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ourier New"/>
              <a:buChar char="o"/>
              <a:defRPr sz="2400" b="1" i="0">
                <a:solidFill>
                  <a:schemeClr val="lt1"/>
                </a:solidFill>
              </a:defRPr>
            </a:lvl5pPr>
            <a:lvl6pPr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Wingdings"/>
              <a:buChar char="§"/>
              <a:defRPr sz="2400" b="1" i="0">
                <a:solidFill>
                  <a:schemeClr val="lt1"/>
                </a:solidFill>
              </a:defRPr>
            </a:lvl6pPr>
            <a:lvl7pPr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  <a:defRPr sz="2400" b="1" i="0">
                <a:solidFill>
                  <a:schemeClr val="lt1"/>
                </a:solidFill>
              </a:defRPr>
            </a:lvl7pPr>
            <a:lvl8pPr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ourier New"/>
              <a:buChar char="o"/>
              <a:defRPr sz="2400" b="1" i="0">
                <a:solidFill>
                  <a:schemeClr val="lt1"/>
                </a:solidFill>
              </a:defRPr>
            </a:lvl8pPr>
            <a:lvl9pPr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Wingdings"/>
              <a:buChar char="§"/>
              <a:defRPr sz="2400" b="1" i="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sldNum" idx="12"/>
          </p:nvPr>
        </p:nvSpPr>
        <p:spPr>
          <a:xfrm>
            <a:off x="8556783" y="6333134"/>
            <a:ext cx="548699" cy="524999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>
              <a:spcBef>
                <a:spcPts val="0"/>
              </a:spcBef>
              <a:buNone/>
              <a:defRPr>
                <a:solidFill>
                  <a:schemeClr val="lt1"/>
                </a:solidFill>
              </a:defRPr>
            </a:lvl1pPr>
          </a:lstStyle>
          <a:p>
            <a:pPr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32"/>
          <p:cNvSpPr txBox="1">
            <a:spLocks noGrp="1"/>
          </p:cNvSpPr>
          <p:nvPr>
            <p:ph type="sldNum" idx="12"/>
          </p:nvPr>
        </p:nvSpPr>
        <p:spPr>
          <a:xfrm>
            <a:off x="8255270" y="6333125"/>
            <a:ext cx="850199" cy="524999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 rtl="0">
              <a:spcBef>
                <a:spcPts val="0"/>
              </a:spcBef>
              <a:buNone/>
              <a:defRPr/>
            </a:lvl1pPr>
          </a:lstStyle>
          <a:p>
            <a:pPr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r>
              <a:rPr lang="en"/>
              <a:t>/30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5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5221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buClr>
                <a:schemeClr val="lt1"/>
              </a:buClr>
              <a:buSzPct val="100000"/>
              <a:buFont typeface="Arial"/>
              <a:buNone/>
              <a:defRPr sz="4800" b="1" i="0" u="none" strike="noStrike" cap="none" baseline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l" rtl="0">
              <a:spcBef>
                <a:spcPts val="0"/>
              </a:spcBef>
              <a:buClr>
                <a:schemeClr val="lt1"/>
              </a:buClr>
              <a:buSzPct val="100000"/>
              <a:buFont typeface="Arial"/>
              <a:buNone/>
              <a:defRPr sz="4800" b="1" i="0" u="none" strike="noStrike" cap="none" baseline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rtl="0">
              <a:spcBef>
                <a:spcPts val="0"/>
              </a:spcBef>
              <a:buClr>
                <a:schemeClr val="lt1"/>
              </a:buClr>
              <a:buSzPct val="100000"/>
              <a:buFont typeface="Arial"/>
              <a:buNone/>
              <a:defRPr sz="4800" b="1" i="0" u="none" strike="noStrike" cap="none" baseline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rtl="0">
              <a:spcBef>
                <a:spcPts val="0"/>
              </a:spcBef>
              <a:buClr>
                <a:schemeClr val="lt1"/>
              </a:buClr>
              <a:buSzPct val="100000"/>
              <a:buFont typeface="Arial"/>
              <a:buNone/>
              <a:defRPr sz="4800" b="1" i="0" u="none" strike="noStrike" cap="none" baseline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rtl="0">
              <a:spcBef>
                <a:spcPts val="0"/>
              </a:spcBef>
              <a:buClr>
                <a:schemeClr val="lt1"/>
              </a:buClr>
              <a:buSzPct val="100000"/>
              <a:buFont typeface="Arial"/>
              <a:buNone/>
              <a:defRPr sz="4800" b="1" i="0" u="none" strike="noStrike" cap="none" baseline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rtl="0">
              <a:spcBef>
                <a:spcPts val="0"/>
              </a:spcBef>
              <a:buClr>
                <a:schemeClr val="lt1"/>
              </a:buClr>
              <a:buSzPct val="100000"/>
              <a:buFont typeface="Arial"/>
              <a:buNone/>
              <a:defRPr sz="4800" b="1" i="0" u="none" strike="noStrike" cap="none" baseline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rtl="0">
              <a:spcBef>
                <a:spcPts val="0"/>
              </a:spcBef>
              <a:buClr>
                <a:schemeClr val="lt1"/>
              </a:buClr>
              <a:buSzPct val="100000"/>
              <a:buFont typeface="Arial"/>
              <a:buNone/>
              <a:defRPr sz="4800" b="1" i="0" u="none" strike="noStrike" cap="none" baseline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rtl="0">
              <a:spcBef>
                <a:spcPts val="0"/>
              </a:spcBef>
              <a:buClr>
                <a:schemeClr val="lt1"/>
              </a:buClr>
              <a:buSzPct val="100000"/>
              <a:buFont typeface="Arial"/>
              <a:buNone/>
              <a:defRPr sz="4800" b="1" i="0" u="none" strike="noStrike" cap="none" baseline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rtl="0">
              <a:spcBef>
                <a:spcPts val="0"/>
              </a:spcBef>
              <a:buClr>
                <a:schemeClr val="lt1"/>
              </a:buClr>
              <a:buSzPct val="100000"/>
              <a:buFont typeface="Arial"/>
              <a:buNone/>
              <a:defRPr sz="4800" b="1" i="0" u="none" strike="noStrike" cap="none" baseline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457200" y="1947332"/>
            <a:ext cx="8229600" cy="46202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l" rtl="0">
              <a:spcBef>
                <a:spcPts val="600"/>
              </a:spcBef>
              <a:buClr>
                <a:schemeClr val="dk2"/>
              </a:buClr>
              <a:buSzPct val="100000"/>
              <a:buFont typeface="Arial"/>
              <a:buChar char="●"/>
              <a:defRPr sz="3000" b="0" i="0" u="none" strike="noStrike" cap="none" baseline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l" rtl="0">
              <a:spcBef>
                <a:spcPts val="480"/>
              </a:spcBef>
              <a:buClr>
                <a:schemeClr val="dk2"/>
              </a:buClr>
              <a:buSzPct val="100000"/>
              <a:buFont typeface="Courier New"/>
              <a:buChar char="o"/>
              <a:defRPr sz="2400" b="0" i="0" u="none" strike="noStrike" cap="none" baseline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rtl="0">
              <a:spcBef>
                <a:spcPts val="480"/>
              </a:spcBef>
              <a:buClr>
                <a:schemeClr val="dk2"/>
              </a:buClr>
              <a:buSzPct val="100000"/>
              <a:buFont typeface="Wingdings"/>
              <a:buChar char="§"/>
              <a:defRPr sz="2400" b="0" i="0" u="none" strike="noStrike" cap="none" baseline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rtl="0">
              <a:spcBef>
                <a:spcPts val="360"/>
              </a:spcBef>
              <a:buClr>
                <a:schemeClr val="dk2"/>
              </a:buClr>
              <a:buSzPct val="100000"/>
              <a:buFont typeface="Arial"/>
              <a:buChar char="●"/>
              <a:defRPr sz="1800" b="0" i="0" u="none" strike="noStrike" cap="none" baseline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rtl="0">
              <a:spcBef>
                <a:spcPts val="360"/>
              </a:spcBef>
              <a:buClr>
                <a:schemeClr val="dk2"/>
              </a:buClr>
              <a:buSzPct val="100000"/>
              <a:buFont typeface="Courier New"/>
              <a:buChar char="o"/>
              <a:defRPr sz="1800" b="0" i="0" u="none" strike="noStrike" cap="none" baseline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rtl="0">
              <a:spcBef>
                <a:spcPts val="360"/>
              </a:spcBef>
              <a:buClr>
                <a:schemeClr val="dk2"/>
              </a:buClr>
              <a:buSzPct val="100000"/>
              <a:buFont typeface="Wingdings"/>
              <a:buChar char="§"/>
              <a:defRPr sz="1800" b="0" i="0" u="none" strike="noStrike" cap="none" baseline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rtl="0">
              <a:spcBef>
                <a:spcPts val="360"/>
              </a:spcBef>
              <a:buClr>
                <a:schemeClr val="dk2"/>
              </a:buClr>
              <a:buSzPct val="100000"/>
              <a:buFont typeface="Arial"/>
              <a:buChar char="●"/>
              <a:defRPr sz="1800" b="0" i="0" u="none" strike="noStrike" cap="none" baseline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rtl="0">
              <a:spcBef>
                <a:spcPts val="360"/>
              </a:spcBef>
              <a:buClr>
                <a:schemeClr val="dk2"/>
              </a:buClr>
              <a:buSzPct val="100000"/>
              <a:buFont typeface="Courier New"/>
              <a:buChar char="o"/>
              <a:defRPr sz="1800" b="0" i="0" u="none" strike="noStrike" cap="none" baseline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rtl="0">
              <a:spcBef>
                <a:spcPts val="360"/>
              </a:spcBef>
              <a:buClr>
                <a:schemeClr val="dk2"/>
              </a:buClr>
              <a:buSzPct val="100000"/>
              <a:buFont typeface="Wingdings"/>
              <a:buChar char="§"/>
              <a:defRPr sz="1800" b="0" i="0" u="none" strike="noStrike" cap="none" baseline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x-none" sz="3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Click to edit Master text styles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x-none" sz="2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Second level</a:t>
            </a:r>
          </a:p>
          <a:p>
            <a:pPr marL="1143000" marR="0" lvl="2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x-none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Third level</a:t>
            </a:r>
          </a:p>
          <a:p>
            <a:pPr marL="1600200" marR="0" lvl="3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x-none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Fourth level</a:t>
            </a:r>
          </a:p>
          <a:p>
            <a:pPr marL="2057400" marR="0" lvl="4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»"/>
              <a:tabLst/>
              <a:defRPr/>
            </a:pPr>
            <a:r>
              <a:rPr kumimoji="0" lang="x-none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Fifth level</a:t>
            </a: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endParaRPr dirty="0"/>
          </a:p>
        </p:txBody>
      </p:sp>
      <p:sp>
        <p:nvSpPr>
          <p:cNvPr id="7" name="Shape 7"/>
          <p:cNvSpPr txBox="1">
            <a:spLocks noGrp="1"/>
          </p:cNvSpPr>
          <p:nvPr>
            <p:ph type="sldNum" idx="12"/>
          </p:nvPr>
        </p:nvSpPr>
        <p:spPr>
          <a:xfrm>
            <a:off x="8556783" y="6333134"/>
            <a:ext cx="548699" cy="5249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lvl1pPr algn="r">
              <a:spcBef>
                <a:spcPts val="0"/>
              </a:spcBef>
              <a:buNone/>
              <a:defRPr sz="1300">
                <a:solidFill>
                  <a:schemeClr val="dk2"/>
                </a:solidFill>
              </a:defRPr>
            </a:lvl1pPr>
          </a:lstStyle>
          <a:p>
            <a:pPr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</p:sldLayoutIdLst>
  <p:hf hdr="0" ftr="0" dt="0"/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L="342900" marR="0" indent="-342900" algn="l" defTabSz="4572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 typeface="Arial"/>
        <a:buChar char="•"/>
        <a:tabLst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L="742950" marR="0" indent="-285750" algn="l" defTabSz="4572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 typeface="Arial"/>
        <a:buChar char="–"/>
        <a:tabLst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L="1143000" marR="0" indent="-228600" algn="l" defTabSz="4572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 typeface="Arial"/>
        <a:buChar char="•"/>
        <a:tabLst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L="1600200" marR="0" indent="-228600" algn="l" defTabSz="4572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 typeface="Arial"/>
        <a:buChar char="–"/>
        <a:tabLst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L="2057400" marR="0" indent="-228600" algn="l" defTabSz="4572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 typeface="Arial"/>
        <a:buChar char="»"/>
        <a:tabLst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Relationship Id="rId3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6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7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://www.ncbi.nlm.nih.gov/pubmed/15163296" TargetMode="Externa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://www.sciencemag.org/content/246/4926/64.short" TargetMode="Externa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34"/>
          <p:cNvSpPr txBox="1">
            <a:spLocks noGrp="1"/>
          </p:cNvSpPr>
          <p:nvPr>
            <p:ph type="ctrTitle"/>
          </p:nvPr>
        </p:nvSpPr>
        <p:spPr>
          <a:xfrm>
            <a:off x="0" y="1581950"/>
            <a:ext cx="9144000" cy="25425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buNone/>
            </a:pPr>
            <a:r>
              <a:rPr lang="en" sz="1800" dirty="0">
                <a:solidFill>
                  <a:schemeClr val="dk1"/>
                </a:solidFill>
              </a:rPr>
              <a:t>APLICAÇÃO DE TÉCNICAS DE INTELIGÊNCIA ARTIFICIAL EM DADOS DE ESPECTROMETRIA DE MASSAS E CRIAÇÃO DE UMA FERRAMENTA GENÉRICA PARA ANÁLISE E CLASSIFICAÇÃO DE DADOS DE ESPECTROMETRIA DE MASSAS</a:t>
            </a:r>
          </a:p>
        </p:txBody>
      </p:sp>
      <p:sp>
        <p:nvSpPr>
          <p:cNvPr id="35" name="Shape 35"/>
          <p:cNvSpPr txBox="1">
            <a:spLocks noGrp="1"/>
          </p:cNvSpPr>
          <p:nvPr>
            <p:ph type="subTitle" idx="1"/>
          </p:nvPr>
        </p:nvSpPr>
        <p:spPr>
          <a:xfrm>
            <a:off x="685800" y="4124475"/>
            <a:ext cx="7772400" cy="949799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 dirty="0"/>
              <a:t>Orientador: Dr. Roberto Tadeu Raittz.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1800" dirty="0"/>
              <a:t>Co-orientador: Dr. Luciano F. Huergo.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1800" dirty="0"/>
              <a:t>Mestrando: </a:t>
            </a:r>
            <a:r>
              <a:rPr lang="en" sz="1800" dirty="0" smtClean="0"/>
              <a:t>Calebe </a:t>
            </a:r>
            <a:r>
              <a:rPr lang="en" sz="1800" dirty="0"/>
              <a:t>Elias Ribeiro Brim.</a:t>
            </a:r>
          </a:p>
        </p:txBody>
      </p:sp>
      <p:pic>
        <p:nvPicPr>
          <p:cNvPr id="36" name="Shape 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41387" y="219362"/>
            <a:ext cx="1143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Shape 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5800" y="186035"/>
            <a:ext cx="1190625" cy="1209675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Shape 38"/>
          <p:cNvSpPr txBox="1"/>
          <p:nvPr/>
        </p:nvSpPr>
        <p:spPr>
          <a:xfrm>
            <a:off x="0" y="6249400"/>
            <a:ext cx="9144000" cy="608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" sz="2000" b="1"/>
              <a:t>PROGRAMA DE PÓS GRADUAÇÃO EM BIOINFORMÁTICA</a:t>
            </a:r>
          </a:p>
        </p:txBody>
      </p:sp>
    </p:spTree>
  </p:cSld>
  <p:clrMapOvr>
    <a:masterClrMapping/>
  </p:clrMapOvr>
  <p:transition xmlns:p14="http://schemas.microsoft.com/office/powerpoint/2010/main" spd="slow">
    <p:cut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/>
          <p:nvPr/>
        </p:nvSpPr>
        <p:spPr>
          <a:xfrm>
            <a:off x="5908800" y="3372875"/>
            <a:ext cx="3009600" cy="13842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44" name="Shape 44"/>
          <p:cNvSpPr/>
          <p:nvPr/>
        </p:nvSpPr>
        <p:spPr>
          <a:xfrm>
            <a:off x="636600" y="1964650"/>
            <a:ext cx="7870800" cy="4503000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45" name="Shape 45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522199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"/>
              <a:t>Introduction</a:t>
            </a:r>
          </a:p>
        </p:txBody>
      </p:sp>
      <p:sp>
        <p:nvSpPr>
          <p:cNvPr id="46" name="Shape 46"/>
          <p:cNvSpPr txBox="1">
            <a:spLocks noGrp="1"/>
          </p:cNvSpPr>
          <p:nvPr>
            <p:ph type="sldNum" idx="12"/>
          </p:nvPr>
        </p:nvSpPr>
        <p:spPr>
          <a:xfrm>
            <a:off x="8240995" y="6333125"/>
            <a:ext cx="864599" cy="524999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fld id="{00000000-1234-1234-1234-123412341234}" type="slidenum">
              <a:rPr lang="en" smtClean="0"/>
              <a:t>2</a:t>
            </a:fld>
            <a:r>
              <a:rPr lang="en" dirty="0" smtClean="0"/>
              <a:t>/37</a:t>
            </a:r>
            <a:endParaRPr lang="en" dirty="0"/>
          </a:p>
        </p:txBody>
      </p:sp>
      <p:sp>
        <p:nvSpPr>
          <p:cNvPr id="47" name="Shape 47"/>
          <p:cNvSpPr txBox="1"/>
          <p:nvPr/>
        </p:nvSpPr>
        <p:spPr>
          <a:xfrm>
            <a:off x="6319800" y="3740400"/>
            <a:ext cx="2187600" cy="8198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" sz="3000"/>
              <a:t>Proteomics</a:t>
            </a:r>
          </a:p>
        </p:txBody>
      </p:sp>
      <p:sp>
        <p:nvSpPr>
          <p:cNvPr id="48" name="Shape 48"/>
          <p:cNvSpPr txBox="1"/>
          <p:nvPr/>
        </p:nvSpPr>
        <p:spPr>
          <a:xfrm>
            <a:off x="636600" y="3653600"/>
            <a:ext cx="1952399" cy="8198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3000"/>
              <a:t>Genomics</a:t>
            </a:r>
          </a:p>
        </p:txBody>
      </p:sp>
      <p:sp>
        <p:nvSpPr>
          <p:cNvPr id="49" name="Shape 49"/>
          <p:cNvSpPr txBox="1"/>
          <p:nvPr/>
        </p:nvSpPr>
        <p:spPr>
          <a:xfrm>
            <a:off x="2983200" y="2260750"/>
            <a:ext cx="3177600" cy="829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 rtl="0">
              <a:spcBef>
                <a:spcPts val="0"/>
              </a:spcBef>
              <a:buNone/>
            </a:pPr>
            <a:r>
              <a:rPr lang="en" sz="3600"/>
              <a:t>Bioinformatics</a:t>
            </a:r>
          </a:p>
          <a:p>
            <a:pPr lvl="0" algn="ctr" rtl="0">
              <a:spcBef>
                <a:spcPts val="0"/>
              </a:spcBef>
              <a:buNone/>
            </a:pPr>
            <a:endParaRPr sz="3600"/>
          </a:p>
        </p:txBody>
      </p:sp>
    </p:spTree>
  </p:cSld>
  <p:clrMapOvr>
    <a:masterClrMapping/>
  </p:clrMapOvr>
  <p:transition xmlns:p14="http://schemas.microsoft.com/office/powerpoint/2010/main" spd="slow">
    <p:cut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 txBox="1">
            <a:spLocks noGrp="1"/>
          </p:cNvSpPr>
          <p:nvPr>
            <p:ph type="body" idx="1"/>
          </p:nvPr>
        </p:nvSpPr>
        <p:spPr>
          <a:xfrm>
            <a:off x="457200" y="5875078"/>
            <a:ext cx="8229600" cy="6927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 b="0" dirty="0"/>
              <a:t>Espectrômetro de massas</a:t>
            </a:r>
          </a:p>
          <a:p>
            <a:pPr marL="0" lvl="0" indent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en" sz="1800" b="0" dirty="0">
                <a:solidFill>
                  <a:srgbClr val="FFFFFF"/>
                </a:solidFill>
              </a:rPr>
              <a:t>Fonte: Fenn </a:t>
            </a:r>
            <a:r>
              <a:rPr lang="en" sz="1800" b="0" i="1" dirty="0">
                <a:solidFill>
                  <a:srgbClr val="FFFFFF"/>
                </a:solidFill>
              </a:rPr>
              <a:t>et al</a:t>
            </a:r>
            <a:r>
              <a:rPr lang="en" sz="1800" b="0" dirty="0" smtClean="0">
                <a:solidFill>
                  <a:srgbClr val="FFFFFF"/>
                </a:solidFill>
              </a:rPr>
              <a:t>.</a:t>
            </a:r>
            <a:endParaRPr lang="en" sz="1800" b="0" dirty="0">
              <a:solidFill>
                <a:srgbClr val="FFFFFF"/>
              </a:solidFill>
            </a:endParaRPr>
          </a:p>
        </p:txBody>
      </p:sp>
      <p:sp>
        <p:nvSpPr>
          <p:cNvPr id="70" name="Shape 70"/>
          <p:cNvSpPr txBox="1">
            <a:spLocks noGrp="1"/>
          </p:cNvSpPr>
          <p:nvPr>
            <p:ph type="sldNum" idx="12"/>
          </p:nvPr>
        </p:nvSpPr>
        <p:spPr>
          <a:xfrm>
            <a:off x="8556783" y="6333134"/>
            <a:ext cx="548699" cy="524999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fld id="{00000000-1234-1234-1234-123412341234}" type="slidenum">
              <a:rPr lang="en"/>
              <a:t>3</a:t>
            </a:fld>
            <a:endParaRPr lang="en"/>
          </a:p>
        </p:txBody>
      </p:sp>
      <p:pic>
        <p:nvPicPr>
          <p:cNvPr id="71" name="Shape 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8512" y="737850"/>
            <a:ext cx="7306975" cy="4620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xmlns:p14="http://schemas.microsoft.com/office/powerpoint/2010/main" spd="slow">
    <p:cut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spcBef>
                <a:spcPts val="0"/>
              </a:spcBef>
              <a:buNone/>
            </a:pPr>
            <a:fld id="{00000000-1234-1234-1234-123412341234}" type="slidenum">
              <a:rPr lang="en" smtClean="0"/>
              <a:t>4</a:t>
            </a:fld>
            <a:r>
              <a:rPr lang="en" dirty="0" smtClean="0"/>
              <a:t>/37</a:t>
            </a:r>
            <a:endParaRPr lang="en" dirty="0"/>
          </a:p>
        </p:txBody>
      </p:sp>
      <p:sp>
        <p:nvSpPr>
          <p:cNvPr id="5" name="Oval 4"/>
          <p:cNvSpPr/>
          <p:nvPr/>
        </p:nvSpPr>
        <p:spPr>
          <a:xfrm>
            <a:off x="482819" y="2343300"/>
            <a:ext cx="303726" cy="30372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635219" y="2495700"/>
            <a:ext cx="303726" cy="30372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73894" y="2815917"/>
            <a:ext cx="303726" cy="30372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681005" y="2889240"/>
            <a:ext cx="303726" cy="30372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377279" y="2344911"/>
            <a:ext cx="303726" cy="30372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636293" y="2344911"/>
            <a:ext cx="303726" cy="30372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584390" y="2737377"/>
            <a:ext cx="303726" cy="30372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483893" y="2799426"/>
            <a:ext cx="303726" cy="30372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331493" y="2762304"/>
            <a:ext cx="303726" cy="30372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331493" y="2496774"/>
            <a:ext cx="303726" cy="30372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482819" y="2610441"/>
            <a:ext cx="303726" cy="30372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397679" y="2801574"/>
            <a:ext cx="303726" cy="30372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458507" y="2801037"/>
            <a:ext cx="303726" cy="30372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408733" y="2953437"/>
            <a:ext cx="303726" cy="30372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395474" y="2737377"/>
            <a:ext cx="303726" cy="30372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501561" y="3066030"/>
            <a:ext cx="303726" cy="30372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/>
          <p:cNvSpPr/>
          <p:nvPr/>
        </p:nvSpPr>
        <p:spPr>
          <a:xfrm>
            <a:off x="360585" y="2343300"/>
            <a:ext cx="303726" cy="30372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512985" y="2495700"/>
            <a:ext cx="303726" cy="30372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251660" y="2815917"/>
            <a:ext cx="303726" cy="30372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/>
          <p:cNvSpPr/>
          <p:nvPr/>
        </p:nvSpPr>
        <p:spPr>
          <a:xfrm>
            <a:off x="558771" y="2889240"/>
            <a:ext cx="303726" cy="30372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/>
          <p:cNvSpPr/>
          <p:nvPr/>
        </p:nvSpPr>
        <p:spPr>
          <a:xfrm>
            <a:off x="255045" y="2344911"/>
            <a:ext cx="303726" cy="30372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/>
          <p:cNvSpPr/>
          <p:nvPr/>
        </p:nvSpPr>
        <p:spPr>
          <a:xfrm>
            <a:off x="514059" y="2344911"/>
            <a:ext cx="303726" cy="30372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/>
          <p:cNvSpPr/>
          <p:nvPr/>
        </p:nvSpPr>
        <p:spPr>
          <a:xfrm>
            <a:off x="462156" y="2737377"/>
            <a:ext cx="303726" cy="30372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/>
          <p:cNvSpPr/>
          <p:nvPr/>
        </p:nvSpPr>
        <p:spPr>
          <a:xfrm>
            <a:off x="361659" y="2799426"/>
            <a:ext cx="303726" cy="30372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/>
          <p:cNvSpPr/>
          <p:nvPr/>
        </p:nvSpPr>
        <p:spPr>
          <a:xfrm>
            <a:off x="209259" y="2762304"/>
            <a:ext cx="303726" cy="30372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/>
          <p:cNvSpPr/>
          <p:nvPr/>
        </p:nvSpPr>
        <p:spPr>
          <a:xfrm>
            <a:off x="209259" y="2496774"/>
            <a:ext cx="303726" cy="30372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/>
          <p:cNvSpPr/>
          <p:nvPr/>
        </p:nvSpPr>
        <p:spPr>
          <a:xfrm>
            <a:off x="360585" y="2610441"/>
            <a:ext cx="303726" cy="30372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/>
          <p:cNvSpPr/>
          <p:nvPr/>
        </p:nvSpPr>
        <p:spPr>
          <a:xfrm>
            <a:off x="275445" y="2801574"/>
            <a:ext cx="303726" cy="30372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/>
          <p:cNvSpPr/>
          <p:nvPr/>
        </p:nvSpPr>
        <p:spPr>
          <a:xfrm>
            <a:off x="336273" y="2801037"/>
            <a:ext cx="303726" cy="30372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/>
          <p:cNvSpPr/>
          <p:nvPr/>
        </p:nvSpPr>
        <p:spPr>
          <a:xfrm>
            <a:off x="286499" y="2953437"/>
            <a:ext cx="303726" cy="30372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/>
          <p:cNvSpPr/>
          <p:nvPr/>
        </p:nvSpPr>
        <p:spPr>
          <a:xfrm>
            <a:off x="273240" y="2737377"/>
            <a:ext cx="303726" cy="30372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/>
          <p:cNvSpPr/>
          <p:nvPr/>
        </p:nvSpPr>
        <p:spPr>
          <a:xfrm>
            <a:off x="379327" y="3066030"/>
            <a:ext cx="303726" cy="30372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/>
          <p:cNvSpPr/>
          <p:nvPr/>
        </p:nvSpPr>
        <p:spPr>
          <a:xfrm>
            <a:off x="285355" y="2343300"/>
            <a:ext cx="303726" cy="30372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/>
          <p:cNvSpPr/>
          <p:nvPr/>
        </p:nvSpPr>
        <p:spPr>
          <a:xfrm>
            <a:off x="437755" y="2495700"/>
            <a:ext cx="303726" cy="30372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/>
          <p:cNvSpPr/>
          <p:nvPr/>
        </p:nvSpPr>
        <p:spPr>
          <a:xfrm>
            <a:off x="176430" y="2815917"/>
            <a:ext cx="303726" cy="30372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/>
          <p:cNvSpPr/>
          <p:nvPr/>
        </p:nvSpPr>
        <p:spPr>
          <a:xfrm>
            <a:off x="483541" y="2889240"/>
            <a:ext cx="303726" cy="30372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/>
          <p:cNvSpPr/>
          <p:nvPr/>
        </p:nvSpPr>
        <p:spPr>
          <a:xfrm>
            <a:off x="179815" y="2344911"/>
            <a:ext cx="303726" cy="30372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/>
          <p:cNvSpPr/>
          <p:nvPr/>
        </p:nvSpPr>
        <p:spPr>
          <a:xfrm>
            <a:off x="438829" y="2344911"/>
            <a:ext cx="303726" cy="30372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/>
          <p:cNvSpPr/>
          <p:nvPr/>
        </p:nvSpPr>
        <p:spPr>
          <a:xfrm>
            <a:off x="386926" y="2737377"/>
            <a:ext cx="303726" cy="30372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/>
          <p:cNvSpPr/>
          <p:nvPr/>
        </p:nvSpPr>
        <p:spPr>
          <a:xfrm>
            <a:off x="286429" y="2799426"/>
            <a:ext cx="303726" cy="30372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/>
          <p:cNvSpPr/>
          <p:nvPr/>
        </p:nvSpPr>
        <p:spPr>
          <a:xfrm>
            <a:off x="134029" y="2762304"/>
            <a:ext cx="303726" cy="30372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/>
          <p:cNvSpPr/>
          <p:nvPr/>
        </p:nvSpPr>
        <p:spPr>
          <a:xfrm>
            <a:off x="134029" y="2496774"/>
            <a:ext cx="303726" cy="30372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/>
          <p:cNvSpPr/>
          <p:nvPr/>
        </p:nvSpPr>
        <p:spPr>
          <a:xfrm>
            <a:off x="285355" y="2610441"/>
            <a:ext cx="303726" cy="30372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/>
          <p:cNvSpPr/>
          <p:nvPr/>
        </p:nvSpPr>
        <p:spPr>
          <a:xfrm>
            <a:off x="200215" y="2801574"/>
            <a:ext cx="303726" cy="30372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/>
          <p:cNvSpPr/>
          <p:nvPr/>
        </p:nvSpPr>
        <p:spPr>
          <a:xfrm>
            <a:off x="261043" y="2801037"/>
            <a:ext cx="303726" cy="30372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/>
          <p:cNvSpPr/>
          <p:nvPr/>
        </p:nvSpPr>
        <p:spPr>
          <a:xfrm>
            <a:off x="211269" y="2953437"/>
            <a:ext cx="303726" cy="30372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/>
          <p:cNvSpPr/>
          <p:nvPr/>
        </p:nvSpPr>
        <p:spPr>
          <a:xfrm>
            <a:off x="198010" y="2737377"/>
            <a:ext cx="303726" cy="30372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/>
          <p:cNvSpPr/>
          <p:nvPr/>
        </p:nvSpPr>
        <p:spPr>
          <a:xfrm>
            <a:off x="304097" y="3066030"/>
            <a:ext cx="303726" cy="30372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Left Brace 85"/>
          <p:cNvSpPr/>
          <p:nvPr/>
        </p:nvSpPr>
        <p:spPr>
          <a:xfrm rot="16200000">
            <a:off x="4274811" y="-696950"/>
            <a:ext cx="422602" cy="8576204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TextBox 86"/>
          <p:cNvSpPr txBox="1"/>
          <p:nvPr/>
        </p:nvSpPr>
        <p:spPr>
          <a:xfrm>
            <a:off x="4297899" y="3802453"/>
            <a:ext cx="3742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2s</a:t>
            </a:r>
            <a:endParaRPr lang="en-US" dirty="0"/>
          </a:p>
        </p:txBody>
      </p:sp>
      <p:sp>
        <p:nvSpPr>
          <p:cNvPr id="93" name="Oval 92"/>
          <p:cNvSpPr/>
          <p:nvPr/>
        </p:nvSpPr>
        <p:spPr>
          <a:xfrm>
            <a:off x="2505663" y="2299389"/>
            <a:ext cx="1183270" cy="121466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Oval 93"/>
          <p:cNvSpPr/>
          <p:nvPr/>
        </p:nvSpPr>
        <p:spPr>
          <a:xfrm>
            <a:off x="5217760" y="2568450"/>
            <a:ext cx="659056" cy="676544"/>
          </a:xfrm>
          <a:prstGeom prst="ellipse">
            <a:avLst/>
          </a:prstGeom>
          <a:solidFill>
            <a:srgbClr val="FF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Oval 94"/>
          <p:cNvSpPr/>
          <p:nvPr/>
        </p:nvSpPr>
        <p:spPr>
          <a:xfrm>
            <a:off x="8026398" y="2686432"/>
            <a:ext cx="429193" cy="440580"/>
          </a:xfrm>
          <a:prstGeom prst="ellipse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1" name="Elbow Connector 110"/>
          <p:cNvCxnSpPr/>
          <p:nvPr/>
        </p:nvCxnSpPr>
        <p:spPr>
          <a:xfrm>
            <a:off x="176430" y="5279499"/>
            <a:ext cx="8064565" cy="1212859"/>
          </a:xfrm>
          <a:prstGeom prst="bentConnector3">
            <a:avLst>
              <a:gd name="adj1" fmla="val -114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/>
          <p:cNvCxnSpPr/>
          <p:nvPr/>
        </p:nvCxnSpPr>
        <p:spPr>
          <a:xfrm flipH="1" flipV="1">
            <a:off x="514059" y="5693298"/>
            <a:ext cx="936" cy="79906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/>
          <p:nvPr/>
        </p:nvCxnSpPr>
        <p:spPr>
          <a:xfrm flipV="1">
            <a:off x="2165827" y="5393651"/>
            <a:ext cx="0" cy="1098707"/>
          </a:xfrm>
          <a:prstGeom prst="line">
            <a:avLst/>
          </a:prstGeom>
          <a:ln>
            <a:solidFill>
              <a:srgbClr val="FF6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/>
          <p:cNvCxnSpPr/>
          <p:nvPr/>
        </p:nvCxnSpPr>
        <p:spPr>
          <a:xfrm flipV="1">
            <a:off x="4886967" y="6090552"/>
            <a:ext cx="0" cy="40180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Oval 118"/>
          <p:cNvSpPr/>
          <p:nvPr/>
        </p:nvSpPr>
        <p:spPr>
          <a:xfrm>
            <a:off x="438829" y="4556559"/>
            <a:ext cx="194990" cy="194990"/>
          </a:xfrm>
          <a:prstGeom prst="ellipse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Oval 119"/>
          <p:cNvSpPr/>
          <p:nvPr/>
        </p:nvSpPr>
        <p:spPr>
          <a:xfrm>
            <a:off x="591229" y="4708959"/>
            <a:ext cx="194990" cy="194990"/>
          </a:xfrm>
          <a:prstGeom prst="ellipse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Oval 120"/>
          <p:cNvSpPr/>
          <p:nvPr/>
        </p:nvSpPr>
        <p:spPr>
          <a:xfrm>
            <a:off x="743629" y="4861359"/>
            <a:ext cx="194990" cy="194990"/>
          </a:xfrm>
          <a:prstGeom prst="ellipse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Oval 121"/>
          <p:cNvSpPr/>
          <p:nvPr/>
        </p:nvSpPr>
        <p:spPr>
          <a:xfrm>
            <a:off x="495662" y="4790233"/>
            <a:ext cx="194990" cy="194990"/>
          </a:xfrm>
          <a:prstGeom prst="ellipse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Oval 122"/>
          <p:cNvSpPr/>
          <p:nvPr/>
        </p:nvSpPr>
        <p:spPr>
          <a:xfrm>
            <a:off x="720290" y="4604348"/>
            <a:ext cx="194990" cy="194990"/>
          </a:xfrm>
          <a:prstGeom prst="ellipse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Oval 123"/>
          <p:cNvSpPr/>
          <p:nvPr/>
        </p:nvSpPr>
        <p:spPr>
          <a:xfrm>
            <a:off x="835067" y="4719481"/>
            <a:ext cx="194990" cy="194990"/>
          </a:xfrm>
          <a:prstGeom prst="ellipse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Oval 124"/>
          <p:cNvSpPr/>
          <p:nvPr/>
        </p:nvSpPr>
        <p:spPr>
          <a:xfrm>
            <a:off x="524590" y="4552001"/>
            <a:ext cx="194990" cy="194990"/>
          </a:xfrm>
          <a:prstGeom prst="ellipse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Oval 125"/>
          <p:cNvSpPr/>
          <p:nvPr/>
        </p:nvSpPr>
        <p:spPr>
          <a:xfrm>
            <a:off x="2115719" y="4459064"/>
            <a:ext cx="194990" cy="194990"/>
          </a:xfrm>
          <a:prstGeom prst="ellipse">
            <a:avLst/>
          </a:prstGeom>
          <a:solidFill>
            <a:srgbClr val="FF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Oval 126"/>
          <p:cNvSpPr/>
          <p:nvPr/>
        </p:nvSpPr>
        <p:spPr>
          <a:xfrm>
            <a:off x="2268119" y="4611464"/>
            <a:ext cx="194990" cy="194990"/>
          </a:xfrm>
          <a:prstGeom prst="ellipse">
            <a:avLst/>
          </a:prstGeom>
          <a:solidFill>
            <a:srgbClr val="FF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Oval 127"/>
          <p:cNvSpPr/>
          <p:nvPr/>
        </p:nvSpPr>
        <p:spPr>
          <a:xfrm>
            <a:off x="2248335" y="4746991"/>
            <a:ext cx="194990" cy="194990"/>
          </a:xfrm>
          <a:prstGeom prst="ellipse">
            <a:avLst/>
          </a:prstGeom>
          <a:solidFill>
            <a:srgbClr val="FF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Oval 128"/>
          <p:cNvSpPr/>
          <p:nvPr/>
        </p:nvSpPr>
        <p:spPr>
          <a:xfrm>
            <a:off x="2104832" y="4614482"/>
            <a:ext cx="194990" cy="194990"/>
          </a:xfrm>
          <a:prstGeom prst="ellipse">
            <a:avLst/>
          </a:prstGeom>
          <a:solidFill>
            <a:srgbClr val="FF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Oval 129"/>
          <p:cNvSpPr/>
          <p:nvPr/>
        </p:nvSpPr>
        <p:spPr>
          <a:xfrm>
            <a:off x="2115719" y="4556559"/>
            <a:ext cx="194990" cy="194990"/>
          </a:xfrm>
          <a:prstGeom prst="ellipse">
            <a:avLst/>
          </a:prstGeom>
          <a:solidFill>
            <a:srgbClr val="FF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Oval 130"/>
          <p:cNvSpPr/>
          <p:nvPr/>
        </p:nvSpPr>
        <p:spPr>
          <a:xfrm>
            <a:off x="2310672" y="4719481"/>
            <a:ext cx="194990" cy="194990"/>
          </a:xfrm>
          <a:prstGeom prst="ellipse">
            <a:avLst/>
          </a:prstGeom>
          <a:solidFill>
            <a:srgbClr val="FF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Oval 131"/>
          <p:cNvSpPr/>
          <p:nvPr/>
        </p:nvSpPr>
        <p:spPr>
          <a:xfrm>
            <a:off x="2225529" y="4459064"/>
            <a:ext cx="194990" cy="194990"/>
          </a:xfrm>
          <a:prstGeom prst="ellipse">
            <a:avLst/>
          </a:prstGeom>
          <a:solidFill>
            <a:srgbClr val="FF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Oval 132"/>
          <p:cNvSpPr/>
          <p:nvPr/>
        </p:nvSpPr>
        <p:spPr>
          <a:xfrm>
            <a:off x="2158490" y="4604348"/>
            <a:ext cx="194990" cy="194990"/>
          </a:xfrm>
          <a:prstGeom prst="ellipse">
            <a:avLst/>
          </a:prstGeom>
          <a:solidFill>
            <a:srgbClr val="FF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Oval 133"/>
          <p:cNvSpPr/>
          <p:nvPr/>
        </p:nvSpPr>
        <p:spPr>
          <a:xfrm>
            <a:off x="2202327" y="4649496"/>
            <a:ext cx="194990" cy="194990"/>
          </a:xfrm>
          <a:prstGeom prst="ellipse">
            <a:avLst/>
          </a:prstGeom>
          <a:solidFill>
            <a:srgbClr val="FF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Oval 134"/>
          <p:cNvSpPr/>
          <p:nvPr/>
        </p:nvSpPr>
        <p:spPr>
          <a:xfrm>
            <a:off x="1962800" y="4621986"/>
            <a:ext cx="194990" cy="194990"/>
          </a:xfrm>
          <a:prstGeom prst="ellipse">
            <a:avLst/>
          </a:prstGeom>
          <a:solidFill>
            <a:srgbClr val="FF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Oval 135"/>
          <p:cNvSpPr/>
          <p:nvPr/>
        </p:nvSpPr>
        <p:spPr>
          <a:xfrm>
            <a:off x="2299822" y="4751549"/>
            <a:ext cx="194990" cy="194990"/>
          </a:xfrm>
          <a:prstGeom prst="ellipse">
            <a:avLst/>
          </a:prstGeom>
          <a:solidFill>
            <a:srgbClr val="FF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Oval 136"/>
          <p:cNvSpPr/>
          <p:nvPr/>
        </p:nvSpPr>
        <p:spPr>
          <a:xfrm>
            <a:off x="2104832" y="4678082"/>
            <a:ext cx="194990" cy="194990"/>
          </a:xfrm>
          <a:prstGeom prst="ellipse">
            <a:avLst/>
          </a:prstGeom>
          <a:solidFill>
            <a:srgbClr val="FF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Oval 137"/>
          <p:cNvSpPr/>
          <p:nvPr/>
        </p:nvSpPr>
        <p:spPr>
          <a:xfrm>
            <a:off x="2007337" y="4506853"/>
            <a:ext cx="194990" cy="194990"/>
          </a:xfrm>
          <a:prstGeom prst="ellipse">
            <a:avLst/>
          </a:prstGeom>
          <a:solidFill>
            <a:srgbClr val="FF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Oval 138"/>
          <p:cNvSpPr/>
          <p:nvPr/>
        </p:nvSpPr>
        <p:spPr>
          <a:xfrm>
            <a:off x="4789472" y="4887728"/>
            <a:ext cx="194990" cy="194990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Oval 141"/>
          <p:cNvSpPr/>
          <p:nvPr/>
        </p:nvSpPr>
        <p:spPr>
          <a:xfrm>
            <a:off x="4941872" y="5040128"/>
            <a:ext cx="194990" cy="194990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Oval 142"/>
          <p:cNvSpPr/>
          <p:nvPr/>
        </p:nvSpPr>
        <p:spPr>
          <a:xfrm>
            <a:off x="4691977" y="5095033"/>
            <a:ext cx="194990" cy="194990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6" name="Straight Connector 145"/>
          <p:cNvCxnSpPr/>
          <p:nvPr/>
        </p:nvCxnSpPr>
        <p:spPr>
          <a:xfrm>
            <a:off x="134029" y="2070861"/>
            <a:ext cx="0" cy="17315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Connector 147"/>
          <p:cNvCxnSpPr/>
          <p:nvPr/>
        </p:nvCxnSpPr>
        <p:spPr>
          <a:xfrm>
            <a:off x="8774214" y="2106282"/>
            <a:ext cx="0" cy="17315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TextBox 148"/>
          <p:cNvSpPr txBox="1"/>
          <p:nvPr/>
        </p:nvSpPr>
        <p:spPr>
          <a:xfrm>
            <a:off x="6692524" y="1851703"/>
            <a:ext cx="15440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ION DETECTOR</a:t>
            </a:r>
          </a:p>
        </p:txBody>
      </p:sp>
      <p:cxnSp>
        <p:nvCxnSpPr>
          <p:cNvPr id="151" name="Straight Arrow Connector 150"/>
          <p:cNvCxnSpPr>
            <a:stCxn id="149" idx="3"/>
          </p:cNvCxnSpPr>
          <p:nvPr/>
        </p:nvCxnSpPr>
        <p:spPr>
          <a:xfrm>
            <a:off x="8236536" y="2005592"/>
            <a:ext cx="537678" cy="3542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TextBox 152"/>
          <p:cNvSpPr txBox="1"/>
          <p:nvPr/>
        </p:nvSpPr>
        <p:spPr>
          <a:xfrm>
            <a:off x="816711" y="1839923"/>
            <a:ext cx="913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SAMPLE</a:t>
            </a:r>
            <a:endParaRPr lang="en-US" dirty="0"/>
          </a:p>
        </p:txBody>
      </p:sp>
      <p:cxnSp>
        <p:nvCxnSpPr>
          <p:cNvPr id="158" name="Straight Arrow Connector 157"/>
          <p:cNvCxnSpPr>
            <a:stCxn id="153" idx="1"/>
          </p:cNvCxnSpPr>
          <p:nvPr/>
        </p:nvCxnSpPr>
        <p:spPr>
          <a:xfrm flipH="1">
            <a:off x="386926" y="1993812"/>
            <a:ext cx="429785" cy="16566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/>
          <p:cNvCxnSpPr>
            <a:endCxn id="76" idx="7"/>
          </p:cNvCxnSpPr>
          <p:nvPr/>
        </p:nvCxnSpPr>
        <p:spPr>
          <a:xfrm flipH="1">
            <a:off x="646172" y="2159480"/>
            <a:ext cx="2665722" cy="62237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002291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8428 0 " pathEditMode="relative" ptsTypes="AA">
                                      <p:cBhvr>
                                        <p:cTn id="13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8428 0 " pathEditMode="relative" ptsTypes="AA">
                                      <p:cBhvr>
                                        <p:cTn id="15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8428 0 " pathEditMode="relative" ptsTypes="AA">
                                      <p:cBhvr>
                                        <p:cTn id="1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8428 0 " pathEditMode="relative" ptsTypes="AA">
                                      <p:cBhvr>
                                        <p:cTn id="1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8428 0 " pathEditMode="relative" ptsTypes="AA">
                                      <p:cBhvr>
                                        <p:cTn id="21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8428 0 " pathEditMode="relative" ptsTypes="AA">
                                      <p:cBhvr>
                                        <p:cTn id="23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8428 0 " pathEditMode="relative" ptsTypes="AA">
                                      <p:cBhvr>
                                        <p:cTn id="25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6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8428 0 " pathEditMode="relative" ptsTypes="AA">
                                      <p:cBhvr>
                                        <p:cTn id="27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8428 0 " pathEditMode="relative" ptsTypes="AA">
                                      <p:cBhvr>
                                        <p:cTn id="29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0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8428 0 " pathEditMode="relative" ptsTypes="AA">
                                      <p:cBhvr>
                                        <p:cTn id="31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2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8428 0 " pathEditMode="relative" ptsTypes="AA">
                                      <p:cBhvr>
                                        <p:cTn id="33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4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8428 0 " pathEditMode="relative" ptsTypes="AA">
                                      <p:cBhvr>
                                        <p:cTn id="35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6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8428 0 " pathEditMode="relative" ptsTypes="AA">
                                      <p:cBhvr>
                                        <p:cTn id="37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8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8428 0 " pathEditMode="relative" ptsTypes="AA">
                                      <p:cBhvr>
                                        <p:cTn id="39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0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8428 0 " pathEditMode="relative" ptsTypes="AA">
                                      <p:cBhvr>
                                        <p:cTn id="41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2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8428 0 " pathEditMode="relative" ptsTypes="AA">
                                      <p:cBhvr>
                                        <p:cTn id="43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4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54942 0.00023 " pathEditMode="relative" ptsTypes="AA">
                                      <p:cBhvr>
                                        <p:cTn id="45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6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54942 0.00023 " pathEditMode="relative" ptsTypes="AA">
                                      <p:cBhvr>
                                        <p:cTn id="47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8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54942 0.00023 " pathEditMode="relative" ptsTypes="AA">
                                      <p:cBhvr>
                                        <p:cTn id="49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0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54942 0.00023 " pathEditMode="relative" ptsTypes="AA">
                                      <p:cBhvr>
                                        <p:cTn id="51" dur="2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2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54942 0.00023 " pathEditMode="relative" ptsTypes="AA">
                                      <p:cBhvr>
                                        <p:cTn id="53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4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54942 0.00023 " pathEditMode="relative" ptsTypes="AA">
                                      <p:cBhvr>
                                        <p:cTn id="55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6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54942 0.00023 " pathEditMode="relative" ptsTypes="AA">
                                      <p:cBhvr>
                                        <p:cTn id="57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8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54942 0.00023 " pathEditMode="relative" ptsTypes="AA">
                                      <p:cBhvr>
                                        <p:cTn id="59" dur="2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0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54942 0.00023 " pathEditMode="relative" ptsTypes="AA">
                                      <p:cBhvr>
                                        <p:cTn id="61" dur="2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2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54942 0.00023 " pathEditMode="relative" ptsTypes="AA">
                                      <p:cBhvr>
                                        <p:cTn id="63" dur="2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4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54942 0.00023 " pathEditMode="relative" ptsTypes="AA">
                                      <p:cBhvr>
                                        <p:cTn id="65" dur="2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6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54942 0.00023 " pathEditMode="relative" ptsTypes="AA">
                                      <p:cBhvr>
                                        <p:cTn id="67" dur="2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8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54942 0.00023 " pathEditMode="relative" ptsTypes="AA">
                                      <p:cBhvr>
                                        <p:cTn id="69" dur="2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54942 0.00023 " pathEditMode="relative" ptsTypes="AA">
                                      <p:cBhvr>
                                        <p:cTn id="71" dur="2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2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54942 0.00023 " pathEditMode="relative" ptsTypes="AA">
                                      <p:cBhvr>
                                        <p:cTn id="73" dur="2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4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54942 0.00023 " pathEditMode="relative" ptsTypes="AA">
                                      <p:cBhvr>
                                        <p:cTn id="75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6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0241 0.00393 " pathEditMode="relative" ptsTypes="AA">
                                      <p:cBhvr>
                                        <p:cTn id="77" dur="2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8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0241 0.00393 " pathEditMode="relative" ptsTypes="AA">
                                      <p:cBhvr>
                                        <p:cTn id="79" dur="2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0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0241 0.00393 " pathEditMode="relative" ptsTypes="AA">
                                      <p:cBhvr>
                                        <p:cTn id="81" dur="2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2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0241 0.00393 " pathEditMode="relative" ptsTypes="AA">
                                      <p:cBhvr>
                                        <p:cTn id="83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4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0241 0.00393 " pathEditMode="relative" ptsTypes="AA">
                                      <p:cBhvr>
                                        <p:cTn id="85" dur="2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6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0241 0.00393 " pathEditMode="relative" ptsTypes="AA">
                                      <p:cBhvr>
                                        <p:cTn id="87" dur="2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8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0241 0.00393 " pathEditMode="relative" ptsTypes="AA">
                                      <p:cBhvr>
                                        <p:cTn id="89" dur="2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0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0241 0.00393 " pathEditMode="relative" ptsTypes="AA">
                                      <p:cBhvr>
                                        <p:cTn id="91" dur="2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2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0241 0.00393 " pathEditMode="relative" ptsTypes="AA">
                                      <p:cBhvr>
                                        <p:cTn id="93" dur="2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0241 0.00393 " pathEditMode="relative" ptsTypes="AA">
                                      <p:cBhvr>
                                        <p:cTn id="95" dur="2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6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0241 0.00393 " pathEditMode="relative" ptsTypes="AA">
                                      <p:cBhvr>
                                        <p:cTn id="97" dur="2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8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0241 0.00393 " pathEditMode="relative" ptsTypes="AA">
                                      <p:cBhvr>
                                        <p:cTn id="99" dur="2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0241 0.00393 " pathEditMode="relative" ptsTypes="AA">
                                      <p:cBhvr>
                                        <p:cTn id="101" dur="2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2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0241 0.00393 " pathEditMode="relative" ptsTypes="AA">
                                      <p:cBhvr>
                                        <p:cTn id="103" dur="2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4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0241 0.00393 " pathEditMode="relative" ptsTypes="AA">
                                      <p:cBhvr>
                                        <p:cTn id="105" dur="2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6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0241 0.00393 " pathEditMode="relative" ptsTypes="AA">
                                      <p:cBhvr>
                                        <p:cTn id="107" dur="2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2000"/>
                            </p:stCondLst>
                            <p:childTnLst>
                              <p:par>
                                <p:cTn id="10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9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5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500"/>
                            </p:stCondLst>
                            <p:childTnLst>
                              <p:par>
                                <p:cTn id="127" presetID="9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9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9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9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0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0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0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0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2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2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6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2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3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3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3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8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3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4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4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4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4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0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5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5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6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5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2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8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4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5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>
                      <p:stCondLst>
                        <p:cond delay="indefinite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1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2" fill="hold">
                      <p:stCondLst>
                        <p:cond delay="indefinite"/>
                      </p:stCondLst>
                      <p:childTnLst>
                        <p:par>
                          <p:cTn id="283" fill="hold">
                            <p:stCondLst>
                              <p:cond delay="0"/>
                            </p:stCondLst>
                            <p:childTnLst>
                              <p:par>
                                <p:cTn id="284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63 -0.00208 " pathEditMode="relative" ptsTypes="AA">
                                      <p:cBhvr>
                                        <p:cTn id="285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6" fill="hold">
                            <p:stCondLst>
                              <p:cond delay="500"/>
                            </p:stCondLst>
                            <p:childTnLst>
                              <p:par>
                                <p:cTn id="287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89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0" fill="hold">
                      <p:stCondLst>
                        <p:cond delay="indefinite"/>
                      </p:stCondLst>
                      <p:childTnLst>
                        <p:par>
                          <p:cTn id="291" fill="hold">
                            <p:stCondLst>
                              <p:cond delay="0"/>
                            </p:stCondLst>
                            <p:childTnLst>
                              <p:par>
                                <p:cTn id="292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6167 0 " pathEditMode="relative" ptsTypes="AA">
                                      <p:cBhvr>
                                        <p:cTn id="293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4" fill="hold">
                            <p:stCondLst>
                              <p:cond delay="1000"/>
                            </p:stCondLst>
                            <p:childTnLst>
                              <p:par>
                                <p:cTn id="295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9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8" fill="hold">
                      <p:stCondLst>
                        <p:cond delay="indefinite"/>
                      </p:stCondLst>
                      <p:childTnLst>
                        <p:par>
                          <p:cTn id="299" fill="hold">
                            <p:stCondLst>
                              <p:cond delay="0"/>
                            </p:stCondLst>
                            <p:childTnLst>
                              <p:par>
                                <p:cTn id="300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63155 0 " pathEditMode="relative" ptsTypes="AA">
                                      <p:cBhvr>
                                        <p:cTn id="301" dur="2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2" fill="hold">
                            <p:stCondLst>
                              <p:cond delay="2000"/>
                            </p:stCondLst>
                            <p:childTnLst>
                              <p:par>
                                <p:cTn id="303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05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6" fill="hold">
                      <p:stCondLst>
                        <p:cond delay="indefinite"/>
                      </p:stCondLst>
                      <p:childTnLst>
                        <p:par>
                          <p:cTn id="307" fill="hold">
                            <p:stCondLst>
                              <p:cond delay="0"/>
                            </p:stCondLst>
                            <p:childTnLst>
                              <p:par>
                                <p:cTn id="308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0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2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6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9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2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5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8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1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4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7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0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3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6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9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2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5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8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1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4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7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0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3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6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9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2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54" grpId="0" animBg="1"/>
      <p:bldP spid="54" grpId="1" animBg="1"/>
      <p:bldP spid="55" grpId="0" animBg="1"/>
      <p:bldP spid="55" grpId="1" animBg="1"/>
      <p:bldP spid="56" grpId="0" animBg="1"/>
      <p:bldP spid="56" grpId="1" animBg="1"/>
      <p:bldP spid="57" grpId="0" animBg="1"/>
      <p:bldP spid="57" grpId="1" animBg="1"/>
      <p:bldP spid="58" grpId="0" animBg="1"/>
      <p:bldP spid="58" grpId="1" animBg="1"/>
      <p:bldP spid="59" grpId="0" animBg="1"/>
      <p:bldP spid="59" grpId="1" animBg="1"/>
      <p:bldP spid="60" grpId="0" animBg="1"/>
      <p:bldP spid="60" grpId="1" animBg="1"/>
      <p:bldP spid="61" grpId="0" animBg="1"/>
      <p:bldP spid="61" grpId="1" animBg="1"/>
      <p:bldP spid="62" grpId="0" animBg="1"/>
      <p:bldP spid="62" grpId="1" animBg="1"/>
      <p:bldP spid="63" grpId="0" animBg="1"/>
      <p:bldP spid="63" grpId="1" animBg="1"/>
      <p:bldP spid="64" grpId="0" animBg="1"/>
      <p:bldP spid="64" grpId="1" animBg="1"/>
      <p:bldP spid="65" grpId="0" animBg="1"/>
      <p:bldP spid="65" grpId="1" animBg="1"/>
      <p:bldP spid="66" grpId="0" animBg="1"/>
      <p:bldP spid="66" grpId="1" animBg="1"/>
      <p:bldP spid="67" grpId="0" animBg="1"/>
      <p:bldP spid="67" grpId="1" animBg="1"/>
      <p:bldP spid="68" grpId="0" animBg="1"/>
      <p:bldP spid="68" grpId="1" animBg="1"/>
      <p:bldP spid="69" grpId="0" animBg="1"/>
      <p:bldP spid="69" grpId="1" animBg="1"/>
      <p:bldP spid="70" grpId="0" animBg="1"/>
      <p:bldP spid="70" grpId="1" animBg="1"/>
      <p:bldP spid="71" grpId="0" animBg="1"/>
      <p:bldP spid="71" grpId="1" animBg="1"/>
      <p:bldP spid="72" grpId="0" animBg="1"/>
      <p:bldP spid="72" grpId="1" animBg="1"/>
      <p:bldP spid="73" grpId="0" animBg="1"/>
      <p:bldP spid="73" grpId="1" animBg="1"/>
      <p:bldP spid="74" grpId="0" animBg="1"/>
      <p:bldP spid="74" grpId="1" animBg="1"/>
      <p:bldP spid="75" grpId="0" animBg="1"/>
      <p:bldP spid="75" grpId="1" animBg="1"/>
      <p:bldP spid="76" grpId="0" animBg="1"/>
      <p:bldP spid="76" grpId="1" animBg="1"/>
      <p:bldP spid="77" grpId="0" animBg="1"/>
      <p:bldP spid="77" grpId="1" animBg="1"/>
      <p:bldP spid="78" grpId="0" animBg="1"/>
      <p:bldP spid="78" grpId="1" animBg="1"/>
      <p:bldP spid="79" grpId="0" animBg="1"/>
      <p:bldP spid="79" grpId="1" animBg="1"/>
      <p:bldP spid="80" grpId="0" animBg="1"/>
      <p:bldP spid="80" grpId="1" animBg="1"/>
      <p:bldP spid="81" grpId="0" animBg="1"/>
      <p:bldP spid="81" grpId="1" animBg="1"/>
      <p:bldP spid="82" grpId="0" animBg="1"/>
      <p:bldP spid="82" grpId="1" animBg="1"/>
      <p:bldP spid="83" grpId="0" animBg="1"/>
      <p:bldP spid="83" grpId="1" animBg="1"/>
      <p:bldP spid="84" grpId="0" animBg="1"/>
      <p:bldP spid="84" grpId="1" animBg="1"/>
      <p:bldP spid="85" grpId="0" animBg="1"/>
      <p:bldP spid="85" grpId="1" animBg="1"/>
      <p:bldP spid="86" grpId="0" animBg="1"/>
      <p:bldP spid="86" grpId="1" animBg="1"/>
      <p:bldP spid="87" grpId="0"/>
      <p:bldP spid="87" grpId="1"/>
      <p:bldP spid="93" grpId="0" animBg="1"/>
      <p:bldP spid="93" grpId="1" animBg="1"/>
      <p:bldP spid="93" grpId="2" animBg="1"/>
      <p:bldP spid="94" grpId="0" animBg="1"/>
      <p:bldP spid="94" grpId="1" animBg="1"/>
      <p:bldP spid="94" grpId="2" animBg="1"/>
      <p:bldP spid="95" grpId="0" animBg="1"/>
      <p:bldP spid="95" grpId="1" animBg="1"/>
      <p:bldP spid="95" grpId="2" animBg="1"/>
      <p:bldP spid="119" grpId="0" animBg="1"/>
      <p:bldP spid="120" grpId="0" animBg="1"/>
      <p:bldP spid="121" grpId="0" animBg="1"/>
      <p:bldP spid="122" grpId="0" animBg="1"/>
      <p:bldP spid="123" grpId="0" animBg="1"/>
      <p:bldP spid="124" grpId="0" animBg="1"/>
      <p:bldP spid="125" grpId="0" animBg="1"/>
      <p:bldP spid="126" grpId="0" animBg="1"/>
      <p:bldP spid="127" grpId="0" animBg="1"/>
      <p:bldP spid="128" grpId="0" animBg="1"/>
      <p:bldP spid="129" grpId="0" animBg="1"/>
      <p:bldP spid="130" grpId="0" animBg="1"/>
      <p:bldP spid="131" grpId="0" animBg="1"/>
      <p:bldP spid="132" grpId="0" animBg="1"/>
      <p:bldP spid="133" grpId="0" animBg="1"/>
      <p:bldP spid="134" grpId="0" animBg="1"/>
      <p:bldP spid="135" grpId="0" animBg="1"/>
      <p:bldP spid="136" grpId="0" animBg="1"/>
      <p:bldP spid="137" grpId="0" animBg="1"/>
      <p:bldP spid="138" grpId="0" animBg="1"/>
      <p:bldP spid="139" grpId="0" animBg="1"/>
      <p:bldP spid="142" grpId="0" animBg="1"/>
      <p:bldP spid="14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hape 76"/>
          <p:cNvSpPr txBox="1">
            <a:spLocks noGrp="1"/>
          </p:cNvSpPr>
          <p:nvPr>
            <p:ph type="title" idx="4294967295"/>
          </p:nvPr>
        </p:nvSpPr>
        <p:spPr>
          <a:xfrm>
            <a:off x="457200" y="274637"/>
            <a:ext cx="8229600" cy="15221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"/>
              <a:t>Espectrometria de Massas</a:t>
            </a:r>
          </a:p>
        </p:txBody>
      </p:sp>
      <p:pic>
        <p:nvPicPr>
          <p:cNvPr id="77" name="Shape 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575" y="1084525"/>
            <a:ext cx="8900849" cy="352879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Shape 78"/>
          <p:cNvSpPr txBox="1">
            <a:spLocks noGrp="1"/>
          </p:cNvSpPr>
          <p:nvPr>
            <p:ph type="body" idx="1"/>
          </p:nvPr>
        </p:nvSpPr>
        <p:spPr>
          <a:xfrm>
            <a:off x="457200" y="5875078"/>
            <a:ext cx="8229600" cy="6927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Clr>
                <a:srgbClr val="000000"/>
              </a:buClr>
              <a:buSzPct val="61111"/>
              <a:buFont typeface="Arial"/>
              <a:buNone/>
            </a:pPr>
            <a:r>
              <a:rPr lang="en" sz="1800" b="0" dirty="0">
                <a:solidFill>
                  <a:srgbClr val="FFFFFF"/>
                </a:solidFill>
              </a:rPr>
              <a:t>Perfil de espectro de enterobactérias, separados por espécie.</a:t>
            </a:r>
          </a:p>
          <a:p>
            <a:pPr lvl="0" algn="just">
              <a:lnSpc>
                <a:spcPct val="115000"/>
              </a:lnSpc>
              <a:spcBef>
                <a:spcPts val="0"/>
              </a:spcBef>
              <a:buClr>
                <a:srgbClr val="000000"/>
              </a:buClr>
              <a:buSzPct val="61111"/>
              <a:buFont typeface="Arial"/>
              <a:buNone/>
            </a:pPr>
            <a:r>
              <a:rPr lang="en" sz="1800" b="0" dirty="0">
                <a:solidFill>
                  <a:srgbClr val="FFFFFF"/>
                </a:solidFill>
              </a:rPr>
              <a:t>Fonte: Adaptado de Böhme </a:t>
            </a:r>
            <a:r>
              <a:rPr lang="en" sz="1800" b="0" i="1" dirty="0">
                <a:solidFill>
                  <a:srgbClr val="FFFFFF"/>
                </a:solidFill>
              </a:rPr>
              <a:t>et </a:t>
            </a:r>
            <a:r>
              <a:rPr lang="en" sz="1800" b="0" i="1" dirty="0" smtClean="0">
                <a:solidFill>
                  <a:srgbClr val="FFFFFF"/>
                </a:solidFill>
              </a:rPr>
              <a:t>al</a:t>
            </a:r>
            <a:r>
              <a:rPr lang="en" sz="1800" b="0" dirty="0" smtClean="0">
                <a:solidFill>
                  <a:srgbClr val="FFFFFF"/>
                </a:solidFill>
              </a:rPr>
              <a:t>.</a:t>
            </a:r>
            <a:endParaRPr lang="en" sz="1800" b="0" dirty="0">
              <a:solidFill>
                <a:srgbClr val="FFFFFF"/>
              </a:solidFill>
            </a:endParaRPr>
          </a:p>
        </p:txBody>
      </p:sp>
      <p:sp>
        <p:nvSpPr>
          <p:cNvPr id="79" name="Shape 79"/>
          <p:cNvSpPr txBox="1">
            <a:spLocks noGrp="1"/>
          </p:cNvSpPr>
          <p:nvPr>
            <p:ph type="sldNum" idx="12"/>
          </p:nvPr>
        </p:nvSpPr>
        <p:spPr>
          <a:xfrm>
            <a:off x="8556783" y="6333134"/>
            <a:ext cx="548699" cy="524999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fld id="{00000000-1234-1234-1234-123412341234}" type="slidenum">
              <a:rPr lang="en"/>
              <a:t>5</a:t>
            </a:fld>
            <a:endParaRPr lang="en"/>
          </a:p>
        </p:txBody>
      </p:sp>
    </p:spTree>
  </p:cSld>
  <p:clrMapOvr>
    <a:masterClrMapping/>
  </p:clrMapOvr>
  <p:transition xmlns:p14="http://schemas.microsoft.com/office/powerpoint/2010/main" spd="slow">
    <p:cut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61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522199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"/>
              <a:t>Introduction</a:t>
            </a:r>
          </a:p>
        </p:txBody>
      </p:sp>
      <p:sp>
        <p:nvSpPr>
          <p:cNvPr id="62" name="Shape 62"/>
          <p:cNvSpPr txBox="1">
            <a:spLocks noGrp="1"/>
          </p:cNvSpPr>
          <p:nvPr>
            <p:ph type="body" idx="1"/>
          </p:nvPr>
        </p:nvSpPr>
        <p:spPr>
          <a:xfrm>
            <a:off x="457200" y="1947332"/>
            <a:ext cx="8229600" cy="46202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419100" rtl="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Char char="●"/>
            </a:pPr>
            <a:r>
              <a:rPr lang="en" dirty="0"/>
              <a:t>Biological/MS Problems</a:t>
            </a:r>
          </a:p>
          <a:p>
            <a:pPr marL="914400" lvl="1" indent="-381000" rtl="0">
              <a:spcBef>
                <a:spcPts val="0"/>
              </a:spcBef>
              <a:buClr>
                <a:schemeClr val="dk2"/>
              </a:buClr>
              <a:buSzPct val="80000"/>
              <a:buFont typeface="Courier New"/>
              <a:buChar char="o"/>
            </a:pPr>
            <a:r>
              <a:rPr lang="en" dirty="0"/>
              <a:t>Proteomic </a:t>
            </a:r>
            <a:r>
              <a:rPr lang="en" dirty="0" smtClean="0"/>
              <a:t>analysis</a:t>
            </a:r>
          </a:p>
          <a:p>
            <a:pPr marL="914400" lvl="1" indent="-381000" rtl="0">
              <a:spcBef>
                <a:spcPts val="0"/>
              </a:spcBef>
              <a:buClr>
                <a:schemeClr val="dk2"/>
              </a:buClr>
              <a:buSzPct val="80000"/>
              <a:buFont typeface="Courier New"/>
              <a:buChar char="o"/>
            </a:pPr>
            <a:r>
              <a:rPr lang="en" dirty="0" smtClean="0"/>
              <a:t>Blood serum proteomics analysis</a:t>
            </a:r>
          </a:p>
          <a:p>
            <a:pPr marL="1371600" lvl="2" indent="-381000" rtl="0">
              <a:spcBef>
                <a:spcPts val="0"/>
              </a:spcBef>
              <a:buClr>
                <a:schemeClr val="dk2"/>
              </a:buClr>
              <a:buSzPct val="80000"/>
              <a:buFont typeface="Wingdings"/>
              <a:buChar char="§"/>
            </a:pPr>
            <a:r>
              <a:rPr lang="en" dirty="0" smtClean="0"/>
              <a:t>Ovarian </a:t>
            </a:r>
            <a:r>
              <a:rPr lang="en" dirty="0"/>
              <a:t>Cancer </a:t>
            </a:r>
            <a:r>
              <a:rPr lang="en" dirty="0" smtClean="0"/>
              <a:t>Diagnostic </a:t>
            </a:r>
            <a:endParaRPr lang="en" dirty="0"/>
          </a:p>
          <a:p>
            <a:pPr marL="1371600" lvl="2" indent="-381000" rtl="0">
              <a:spcBef>
                <a:spcPts val="0"/>
              </a:spcBef>
              <a:buClr>
                <a:schemeClr val="dk2"/>
              </a:buClr>
              <a:buSzPct val="80000"/>
              <a:buFont typeface="Wingdings"/>
              <a:buChar char="§"/>
            </a:pPr>
            <a:r>
              <a:rPr lang="en" dirty="0"/>
              <a:t>Prostate Cancer </a:t>
            </a:r>
            <a:r>
              <a:rPr lang="en" dirty="0" smtClean="0"/>
              <a:t>Diagnostic</a:t>
            </a:r>
            <a:endParaRPr lang="en" dirty="0"/>
          </a:p>
          <a:p>
            <a:pPr marL="1371600" lvl="2" indent="-381000" rtl="0">
              <a:spcBef>
                <a:spcPts val="0"/>
              </a:spcBef>
              <a:buClr>
                <a:schemeClr val="dk2"/>
              </a:buClr>
              <a:buSzPct val="80000"/>
              <a:buFont typeface="Wingdings"/>
              <a:buChar char="§"/>
            </a:pPr>
            <a:r>
              <a:rPr lang="en" dirty="0"/>
              <a:t>Breast Cancer </a:t>
            </a:r>
            <a:r>
              <a:rPr lang="en" dirty="0" smtClean="0"/>
              <a:t>Diagnostic</a:t>
            </a:r>
            <a:endParaRPr lang="en" dirty="0"/>
          </a:p>
          <a:p>
            <a:pPr marL="914400" lvl="1" indent="-381000" rtl="0">
              <a:spcBef>
                <a:spcPts val="0"/>
              </a:spcBef>
              <a:buClr>
                <a:schemeClr val="dk2"/>
              </a:buClr>
              <a:buSzPct val="80000"/>
              <a:buFont typeface="Courier New"/>
              <a:buChar char="o"/>
            </a:pPr>
            <a:r>
              <a:rPr lang="en" dirty="0"/>
              <a:t>Intact cell </a:t>
            </a:r>
            <a:r>
              <a:rPr lang="en" dirty="0" smtClean="0"/>
              <a:t>analysis</a:t>
            </a:r>
            <a:endParaRPr lang="en" dirty="0"/>
          </a:p>
        </p:txBody>
      </p:sp>
      <p:sp>
        <p:nvSpPr>
          <p:cNvPr id="63" name="Shape 63"/>
          <p:cNvSpPr txBox="1">
            <a:spLocks noGrp="1"/>
          </p:cNvSpPr>
          <p:nvPr>
            <p:ph type="sldNum" idx="12"/>
          </p:nvPr>
        </p:nvSpPr>
        <p:spPr>
          <a:xfrm>
            <a:off x="8240995" y="6333125"/>
            <a:ext cx="864599" cy="524999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fld id="{00000000-1234-1234-1234-123412341234}" type="slidenum">
              <a:rPr lang="en" smtClean="0"/>
              <a:t>6</a:t>
            </a:fld>
            <a:r>
              <a:rPr lang="en" dirty="0" smtClean="0"/>
              <a:t>/37</a:t>
            </a:r>
            <a:endParaRPr lang="en" dirty="0"/>
          </a:p>
        </p:txBody>
      </p:sp>
    </p:spTree>
  </p:cSld>
  <p:clrMapOvr>
    <a:masterClrMapping/>
  </p:clrMapOvr>
  <p:transition xmlns:p14="http://schemas.microsoft.com/office/powerpoint/2010/main" spd="slow">
    <p:cut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522199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"/>
              <a:t>Introduction</a:t>
            </a:r>
          </a:p>
        </p:txBody>
      </p:sp>
      <p:sp>
        <p:nvSpPr>
          <p:cNvPr id="85" name="Shape 85"/>
          <p:cNvSpPr txBox="1">
            <a:spLocks noGrp="1"/>
          </p:cNvSpPr>
          <p:nvPr>
            <p:ph type="body" idx="1"/>
          </p:nvPr>
        </p:nvSpPr>
        <p:spPr>
          <a:xfrm>
            <a:off x="457200" y="1794930"/>
            <a:ext cx="8229600" cy="7104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algn="ctr" rtl="0">
              <a:spcBef>
                <a:spcPts val="0"/>
              </a:spcBef>
              <a:buNone/>
            </a:pPr>
            <a:r>
              <a:rPr lang="en" b="1" dirty="0"/>
              <a:t>Artificial Intelligence</a:t>
            </a:r>
          </a:p>
          <a:p>
            <a:pPr>
              <a:spcBef>
                <a:spcPts val="0"/>
              </a:spcBef>
              <a:buNone/>
            </a:pPr>
            <a:endParaRPr b="1" dirty="0"/>
          </a:p>
        </p:txBody>
      </p:sp>
      <p:sp>
        <p:nvSpPr>
          <p:cNvPr id="86" name="Shape 86"/>
          <p:cNvSpPr txBox="1">
            <a:spLocks noGrp="1"/>
          </p:cNvSpPr>
          <p:nvPr>
            <p:ph type="sldNum" idx="12"/>
          </p:nvPr>
        </p:nvSpPr>
        <p:spPr>
          <a:xfrm>
            <a:off x="8240995" y="6333125"/>
            <a:ext cx="864599" cy="524999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fld id="{00000000-1234-1234-1234-123412341234}" type="slidenum">
              <a:rPr lang="en" smtClean="0"/>
              <a:t>7</a:t>
            </a:fld>
            <a:r>
              <a:rPr lang="en" dirty="0" smtClean="0"/>
              <a:t>/37</a:t>
            </a:r>
            <a:endParaRPr lang="en" dirty="0"/>
          </a:p>
        </p:txBody>
      </p:sp>
      <p:sp>
        <p:nvSpPr>
          <p:cNvPr id="87" name="Shape 87"/>
          <p:cNvSpPr txBox="1"/>
          <p:nvPr/>
        </p:nvSpPr>
        <p:spPr>
          <a:xfrm>
            <a:off x="446050" y="3010825"/>
            <a:ext cx="8229600" cy="33224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457200" lvl="0" indent="-457200" rtl="0">
              <a:spcBef>
                <a:spcPts val="0"/>
              </a:spcBef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3600" dirty="0"/>
              <a:t>Statistics</a:t>
            </a:r>
          </a:p>
          <a:p>
            <a:pPr marL="457200" lvl="0" indent="-457200" rtl="0">
              <a:spcBef>
                <a:spcPts val="0"/>
              </a:spcBef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3600" dirty="0"/>
              <a:t>Clustering</a:t>
            </a:r>
          </a:p>
          <a:p>
            <a:pPr marL="457200" lvl="0" indent="-457200" rtl="0">
              <a:spcBef>
                <a:spcPts val="0"/>
              </a:spcBef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3600" dirty="0"/>
              <a:t>Neural Network </a:t>
            </a:r>
          </a:p>
          <a:p>
            <a:pPr marL="457200" lvl="0" indent="-457200" rtl="0">
              <a:spcBef>
                <a:spcPts val="0"/>
              </a:spcBef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3600" dirty="0"/>
              <a:t>Evolutionary Algorithms</a:t>
            </a:r>
          </a:p>
        </p:txBody>
      </p:sp>
    </p:spTree>
  </p:cSld>
  <p:clrMapOvr>
    <a:masterClrMapping/>
  </p:clrMapOvr>
  <p:transition xmlns:p14="http://schemas.microsoft.com/office/powerpoint/2010/main" spd="slow">
    <p:cut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92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522199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Introduction</a:t>
            </a:r>
          </a:p>
        </p:txBody>
      </p:sp>
      <p:sp>
        <p:nvSpPr>
          <p:cNvPr id="93" name="Shape 93"/>
          <p:cNvSpPr txBox="1">
            <a:spLocks noGrp="1"/>
          </p:cNvSpPr>
          <p:nvPr>
            <p:ph type="body" idx="1"/>
          </p:nvPr>
        </p:nvSpPr>
        <p:spPr>
          <a:xfrm>
            <a:off x="457200" y="1794930"/>
            <a:ext cx="8229600" cy="7104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b="1"/>
              <a:t>Artificial Intelligence</a:t>
            </a:r>
          </a:p>
          <a:p>
            <a:pPr lvl="0" rtl="0">
              <a:spcBef>
                <a:spcPts val="0"/>
              </a:spcBef>
              <a:buNone/>
            </a:pPr>
            <a:endParaRPr b="1"/>
          </a:p>
        </p:txBody>
      </p:sp>
      <p:sp>
        <p:nvSpPr>
          <p:cNvPr id="94" name="Shape 94"/>
          <p:cNvSpPr txBox="1">
            <a:spLocks noGrp="1"/>
          </p:cNvSpPr>
          <p:nvPr>
            <p:ph type="sldNum" idx="12"/>
          </p:nvPr>
        </p:nvSpPr>
        <p:spPr>
          <a:xfrm>
            <a:off x="8240995" y="6333125"/>
            <a:ext cx="864599" cy="524999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fld id="{00000000-1234-1234-1234-123412341234}" type="slidenum">
              <a:rPr lang="en" smtClean="0"/>
              <a:t>8</a:t>
            </a:fld>
            <a:r>
              <a:rPr lang="en" dirty="0" smtClean="0"/>
              <a:t>/</a:t>
            </a:r>
            <a:r>
              <a:rPr lang="en-US" dirty="0" smtClean="0"/>
              <a:t>37</a:t>
            </a:r>
            <a:endParaRPr lang="en" dirty="0"/>
          </a:p>
        </p:txBody>
      </p:sp>
      <p:sp>
        <p:nvSpPr>
          <p:cNvPr id="95" name="Shape 95"/>
          <p:cNvSpPr/>
          <p:nvPr/>
        </p:nvSpPr>
        <p:spPr>
          <a:xfrm>
            <a:off x="1709850" y="3536800"/>
            <a:ext cx="3103800" cy="2825099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96" name="Shape 96"/>
          <p:cNvSpPr txBox="1"/>
          <p:nvPr/>
        </p:nvSpPr>
        <p:spPr>
          <a:xfrm>
            <a:off x="0" y="6147600"/>
            <a:ext cx="2592599" cy="710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" sz="3000"/>
              <a:t>Supervised</a:t>
            </a:r>
          </a:p>
        </p:txBody>
      </p:sp>
      <p:sp>
        <p:nvSpPr>
          <p:cNvPr id="97" name="Shape 97"/>
          <p:cNvSpPr txBox="1"/>
          <p:nvPr/>
        </p:nvSpPr>
        <p:spPr>
          <a:xfrm>
            <a:off x="6512900" y="6147600"/>
            <a:ext cx="2592599" cy="71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r" rtl="0">
              <a:spcBef>
                <a:spcPts val="0"/>
              </a:spcBef>
              <a:buNone/>
            </a:pPr>
            <a:r>
              <a:rPr lang="en" sz="3000"/>
              <a:t>Unsupervised</a:t>
            </a:r>
          </a:p>
        </p:txBody>
      </p:sp>
      <p:sp>
        <p:nvSpPr>
          <p:cNvPr id="98" name="Shape 98"/>
          <p:cNvSpPr txBox="1"/>
          <p:nvPr/>
        </p:nvSpPr>
        <p:spPr>
          <a:xfrm>
            <a:off x="2899350" y="2581000"/>
            <a:ext cx="3345300" cy="710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3000"/>
              <a:t>Machine Learning</a:t>
            </a:r>
          </a:p>
        </p:txBody>
      </p:sp>
      <p:sp>
        <p:nvSpPr>
          <p:cNvPr id="99" name="Shape 99"/>
          <p:cNvSpPr/>
          <p:nvPr/>
        </p:nvSpPr>
        <p:spPr>
          <a:xfrm>
            <a:off x="4302475" y="3546100"/>
            <a:ext cx="3196800" cy="2806500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00" name="Shape 100"/>
          <p:cNvSpPr txBox="1"/>
          <p:nvPr/>
        </p:nvSpPr>
        <p:spPr>
          <a:xfrm>
            <a:off x="1902300" y="4183200"/>
            <a:ext cx="2718900" cy="19643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457200" lvl="0" indent="-381000" rtl="0">
              <a:spcBef>
                <a:spcPts val="0"/>
              </a:spcBef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2400"/>
              <a:t>Random Forests</a:t>
            </a:r>
          </a:p>
          <a:p>
            <a:pPr marL="457200" lvl="0" indent="-381000" rtl="0">
              <a:spcBef>
                <a:spcPts val="0"/>
              </a:spcBef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2400"/>
              <a:t>MLP</a:t>
            </a:r>
          </a:p>
        </p:txBody>
      </p:sp>
      <p:sp>
        <p:nvSpPr>
          <p:cNvPr id="101" name="Shape 101"/>
          <p:cNvSpPr txBox="1"/>
          <p:nvPr/>
        </p:nvSpPr>
        <p:spPr>
          <a:xfrm>
            <a:off x="4980850" y="4095050"/>
            <a:ext cx="2718900" cy="12488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457200" lvl="0" indent="-381000" rtl="0">
              <a:spcBef>
                <a:spcPts val="0"/>
              </a:spcBef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2400"/>
              <a:t>Clusters</a:t>
            </a:r>
          </a:p>
        </p:txBody>
      </p:sp>
    </p:spTree>
  </p:cSld>
  <p:clrMapOvr>
    <a:masterClrMapping/>
  </p:clrMapOvr>
  <p:transition xmlns:p14="http://schemas.microsoft.com/office/powerpoint/2010/main" spd="slow">
    <p:cut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Document 44"/>
          <p:cNvSpPr/>
          <p:nvPr/>
        </p:nvSpPr>
        <p:spPr>
          <a:xfrm>
            <a:off x="4755478" y="2554061"/>
            <a:ext cx="1242438" cy="1132071"/>
          </a:xfrm>
          <a:prstGeom prst="flowChartDocumen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spcBef>
                <a:spcPts val="0"/>
              </a:spcBef>
              <a:buNone/>
            </a:pPr>
            <a:fld id="{00000000-1234-1234-1234-123412341234}" type="slidenum">
              <a:rPr lang="en" smtClean="0"/>
              <a:t>9</a:t>
            </a:fld>
            <a:r>
              <a:rPr lang="en" dirty="0" smtClean="0"/>
              <a:t>/</a:t>
            </a:r>
            <a:r>
              <a:rPr lang="en-US" dirty="0" smtClean="0"/>
              <a:t>37</a:t>
            </a:r>
            <a:endParaRPr lang="en" dirty="0"/>
          </a:p>
        </p:txBody>
      </p:sp>
      <p:sp>
        <p:nvSpPr>
          <p:cNvPr id="13" name="Rounded Rectangle 12"/>
          <p:cNvSpPr/>
          <p:nvPr/>
        </p:nvSpPr>
        <p:spPr>
          <a:xfrm>
            <a:off x="1352877" y="2503507"/>
            <a:ext cx="2595314" cy="179474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Mass Spectrometry</a:t>
            </a:r>
            <a:endParaRPr lang="en-US" dirty="0"/>
          </a:p>
        </p:txBody>
      </p:sp>
      <p:sp>
        <p:nvSpPr>
          <p:cNvPr id="5" name="Rounded Rectangle 4"/>
          <p:cNvSpPr/>
          <p:nvPr/>
        </p:nvSpPr>
        <p:spPr>
          <a:xfrm>
            <a:off x="1352877" y="4525085"/>
            <a:ext cx="7095703" cy="2167501"/>
          </a:xfrm>
          <a:prstGeom prst="roundRect">
            <a:avLst/>
          </a:prstGeom>
          <a:solidFill>
            <a:schemeClr val="accent6">
              <a:lumMod val="75000"/>
              <a:lumOff val="2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449510" y="4584014"/>
            <a:ext cx="14116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MS ANALYSIS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532339" y="4933209"/>
            <a:ext cx="3630681" cy="1676543"/>
          </a:xfrm>
          <a:prstGeom prst="roundRect">
            <a:avLst/>
          </a:prstGeom>
          <a:solidFill>
            <a:schemeClr val="accent6">
              <a:lumMod val="90000"/>
              <a:lumOff val="1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1" indent="-285750">
              <a:buFont typeface="Arial"/>
              <a:buChar char="•"/>
            </a:pPr>
            <a:r>
              <a:rPr lang="en-US" dirty="0" smtClean="0"/>
              <a:t>Peaks align</a:t>
            </a:r>
          </a:p>
          <a:p>
            <a:pPr marL="285750" lvl="1" indent="-285750">
              <a:buFont typeface="Arial"/>
              <a:buChar char="•"/>
            </a:pPr>
            <a:r>
              <a:rPr lang="en-US" dirty="0" smtClean="0"/>
              <a:t>Smoothing</a:t>
            </a:r>
          </a:p>
          <a:p>
            <a:pPr marL="285750" lvl="1" indent="-285750">
              <a:buFont typeface="Arial"/>
              <a:buChar char="•"/>
            </a:pPr>
            <a:r>
              <a:rPr lang="en-US" dirty="0" smtClean="0"/>
              <a:t>Re-shaping</a:t>
            </a:r>
          </a:p>
          <a:p>
            <a:pPr marL="285750" lvl="1" indent="-285750">
              <a:buFont typeface="Arial"/>
              <a:buChar char="•"/>
            </a:pPr>
            <a:r>
              <a:rPr lang="en-US" dirty="0" smtClean="0"/>
              <a:t>Baseline correction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9638" y="4960821"/>
            <a:ext cx="13920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FFFF"/>
                </a:solidFill>
              </a:rPr>
              <a:t>Pre-processing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948191" y="5081024"/>
            <a:ext cx="1021562" cy="1408185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Peaks Selection</a:t>
            </a:r>
            <a:endParaRPr lang="en-US" dirty="0"/>
          </a:p>
        </p:txBody>
      </p:sp>
      <p:cxnSp>
        <p:nvCxnSpPr>
          <p:cNvPr id="11" name="Straight Arrow Connector 10"/>
          <p:cNvCxnSpPr>
            <a:stCxn id="9" idx="3"/>
            <a:endCxn id="12" idx="1"/>
          </p:cNvCxnSpPr>
          <p:nvPr/>
        </p:nvCxnSpPr>
        <p:spPr>
          <a:xfrm flipV="1">
            <a:off x="4969753" y="5155131"/>
            <a:ext cx="980145" cy="62998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949898" y="5001242"/>
            <a:ext cx="22202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FFFF"/>
                </a:solidFill>
              </a:rPr>
              <a:t>Statistical Peaks Analysis</a:t>
            </a:r>
            <a:endParaRPr lang="en-US" dirty="0">
              <a:solidFill>
                <a:srgbClr val="FFFFFF"/>
              </a:solidFill>
            </a:endParaRPr>
          </a:p>
        </p:txBody>
      </p:sp>
      <p:cxnSp>
        <p:nvCxnSpPr>
          <p:cNvPr id="15" name="Straight Arrow Connector 14"/>
          <p:cNvCxnSpPr>
            <a:stCxn id="9" idx="3"/>
            <a:endCxn id="16" idx="1"/>
          </p:cNvCxnSpPr>
          <p:nvPr/>
        </p:nvCxnSpPr>
        <p:spPr>
          <a:xfrm flipV="1">
            <a:off x="4969753" y="5490520"/>
            <a:ext cx="980145" cy="29459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9898" y="5336631"/>
            <a:ext cx="14285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FFFF"/>
                </a:solidFill>
              </a:rPr>
              <a:t>Neural Network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949898" y="5699262"/>
            <a:ext cx="7617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FFFF"/>
                </a:solidFill>
              </a:rPr>
              <a:t>Cluster</a:t>
            </a:r>
            <a:endParaRPr lang="en-US" dirty="0">
              <a:solidFill>
                <a:srgbClr val="FFFFFF"/>
              </a:solidFill>
            </a:endParaRPr>
          </a:p>
        </p:txBody>
      </p:sp>
      <p:cxnSp>
        <p:nvCxnSpPr>
          <p:cNvPr id="19" name="Straight Arrow Connector 18"/>
          <p:cNvCxnSpPr>
            <a:stCxn id="9" idx="3"/>
            <a:endCxn id="17" idx="1"/>
          </p:cNvCxnSpPr>
          <p:nvPr/>
        </p:nvCxnSpPr>
        <p:spPr>
          <a:xfrm>
            <a:off x="4969753" y="5785117"/>
            <a:ext cx="980145" cy="6803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977082" y="4680032"/>
            <a:ext cx="16814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FFFF"/>
                </a:solidFill>
              </a:rPr>
              <a:t>Peaks Processing</a:t>
            </a:r>
            <a:endParaRPr lang="en-US" dirty="0">
              <a:solidFill>
                <a:srgbClr val="FFFFFF"/>
              </a:solidFill>
            </a:endParaRPr>
          </a:p>
        </p:txBody>
      </p:sp>
      <p:cxnSp>
        <p:nvCxnSpPr>
          <p:cNvPr id="27" name="Straight Arrow Connector 26"/>
          <p:cNvCxnSpPr>
            <a:stCxn id="9" idx="3"/>
            <a:endCxn id="25" idx="1"/>
          </p:cNvCxnSpPr>
          <p:nvPr/>
        </p:nvCxnSpPr>
        <p:spPr>
          <a:xfrm flipV="1">
            <a:off x="4969753" y="4833921"/>
            <a:ext cx="1007329" cy="951196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urved Connector 28"/>
          <p:cNvCxnSpPr>
            <a:stCxn id="25" idx="3"/>
            <a:endCxn id="16" idx="3"/>
          </p:cNvCxnSpPr>
          <p:nvPr/>
        </p:nvCxnSpPr>
        <p:spPr>
          <a:xfrm flipH="1">
            <a:off x="7378494" y="4833921"/>
            <a:ext cx="280033" cy="656599"/>
          </a:xfrm>
          <a:prstGeom prst="curvedConnector3">
            <a:avLst>
              <a:gd name="adj1" fmla="val -222527"/>
            </a:avLst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urved Connector 31"/>
          <p:cNvCxnSpPr>
            <a:stCxn id="49" idx="3"/>
          </p:cNvCxnSpPr>
          <p:nvPr/>
        </p:nvCxnSpPr>
        <p:spPr>
          <a:xfrm flipH="1">
            <a:off x="6711647" y="4847354"/>
            <a:ext cx="917922" cy="1005797"/>
          </a:xfrm>
          <a:prstGeom prst="curvedConnector4">
            <a:avLst>
              <a:gd name="adj1" fmla="val -66544"/>
              <a:gd name="adj2" fmla="val 120165"/>
            </a:avLst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5997916" y="4693465"/>
            <a:ext cx="1631653" cy="307777"/>
          </a:xfrm>
          <a:prstGeom prst="round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4817900" y="2889450"/>
            <a:ext cx="9729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Raw Data</a:t>
            </a:r>
          </a:p>
        </p:txBody>
      </p:sp>
      <p:cxnSp>
        <p:nvCxnSpPr>
          <p:cNvPr id="38" name="Straight Arrow Connector 37"/>
          <p:cNvCxnSpPr>
            <a:stCxn id="13" idx="3"/>
          </p:cNvCxnSpPr>
          <p:nvPr/>
        </p:nvCxnSpPr>
        <p:spPr>
          <a:xfrm>
            <a:off x="3948191" y="3400880"/>
            <a:ext cx="807287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urved Connector 39"/>
          <p:cNvCxnSpPr>
            <a:stCxn id="45" idx="2"/>
            <a:endCxn id="7" idx="0"/>
          </p:cNvCxnSpPr>
          <p:nvPr/>
        </p:nvCxnSpPr>
        <p:spPr>
          <a:xfrm rot="5400000">
            <a:off x="3701230" y="3257741"/>
            <a:ext cx="1321919" cy="2029017"/>
          </a:xfrm>
          <a:prstGeom prst="curvedConnector3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1352877" y="2083599"/>
            <a:ext cx="24494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Mass Spectrometry Analysis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645500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Shape 146"/>
          <p:cNvSpPr txBox="1">
            <a:spLocks noGrp="1"/>
          </p:cNvSpPr>
          <p:nvPr>
            <p:ph type="sldNum" idx="12"/>
          </p:nvPr>
        </p:nvSpPr>
        <p:spPr>
          <a:xfrm>
            <a:off x="8255270" y="6333125"/>
            <a:ext cx="850199" cy="524999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fld id="{00000000-1234-1234-1234-123412341234}" type="slidenum">
              <a:rPr lang="en" smtClean="0"/>
              <a:t>10</a:t>
            </a:fld>
            <a:r>
              <a:rPr lang="en" dirty="0" smtClean="0"/>
              <a:t>/</a:t>
            </a:r>
            <a:r>
              <a:rPr lang="en-US" dirty="0" smtClean="0"/>
              <a:t>37</a:t>
            </a:r>
            <a:endParaRPr lang="en" dirty="0"/>
          </a:p>
        </p:txBody>
      </p:sp>
      <p:graphicFrame>
        <p:nvGraphicFramePr>
          <p:cNvPr id="147" name="Shape 147"/>
          <p:cNvGraphicFramePr/>
          <p:nvPr/>
        </p:nvGraphicFramePr>
        <p:xfrm>
          <a:off x="211250" y="618197"/>
          <a:ext cx="8758300" cy="5851770"/>
        </p:xfrm>
        <a:graphic>
          <a:graphicData uri="http://schemas.openxmlformats.org/drawingml/2006/table">
            <a:tbl>
              <a:tblPr>
                <a:noFill/>
                <a:tableStyleId>{22F0721F-08A2-4DAB-8A2F-E9D09D0CF68C}</a:tableStyleId>
              </a:tblPr>
              <a:tblGrid>
                <a:gridCol w="1099875"/>
                <a:gridCol w="2983150"/>
                <a:gridCol w="2070450"/>
                <a:gridCol w="2604825"/>
              </a:tblGrid>
              <a:tr h="0">
                <a:tc>
                  <a:txBody>
                    <a:bodyPr/>
                    <a:lstStyle/>
                    <a:p>
                      <a:pPr rtl="0">
                        <a:spcBef>
                          <a:spcPts val="0"/>
                        </a:spcBef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Programs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en" sz="1200"/>
                        <a:t>Smooth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en" sz="1200"/>
                        <a:t>BaseLine Correction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en" sz="1200"/>
                        <a:t>Peaks Selection</a:t>
                      </a:r>
                    </a:p>
                  </a:txBody>
                  <a:tcPr marL="91425" marR="91425" marT="91425" marB="91425"/>
                </a:tc>
              </a:tr>
              <a:tr h="292225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Cromwell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lvl="0" rtl="0">
                        <a:spcBef>
                          <a:spcPts val="0"/>
                        </a:spcBef>
                        <a:buNone/>
                      </a:pPr>
                      <a:r>
                        <a:rPr lang="en" sz="1200"/>
                        <a:t>Undecimated Discrete Wavelet Transform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en" sz="1200"/>
                        <a:t>Monotone minimum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en" sz="1200"/>
                        <a:t>SRN,Local maximum</a:t>
                      </a:r>
                    </a:p>
                  </a:txBody>
                  <a:tcPr marL="91425" marR="91425" marT="91425" marB="91425"/>
                </a:tc>
              </a:tr>
              <a:tr h="292225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en" sz="1200"/>
                        <a:t>LCMS-2D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lvl="0" rtl="0">
                        <a:spcBef>
                          <a:spcPts val="0"/>
                        </a:spcBef>
                        <a:buNone/>
                      </a:pP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en" sz="1200"/>
                        <a:t>Moving average of minima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en" sz="1200"/>
                        <a:t>SRN,Detection/Intensity threshold</a:t>
                      </a:r>
                    </a:p>
                  </a:txBody>
                  <a:tcPr marL="91425" marR="91425" marT="91425" marB="91425"/>
                </a:tc>
              </a:tr>
              <a:tr h="292225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en" sz="1200"/>
                        <a:t>LIMPIC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lvl="0" rtl="0">
                        <a:spcBef>
                          <a:spcPts val="0"/>
                        </a:spcBef>
                        <a:buNone/>
                      </a:pPr>
                      <a:r>
                        <a:rPr lang="en" sz="1200"/>
                        <a:t>Kaiser window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en" sz="1200"/>
                        <a:t>Linear interpolation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en" sz="1200"/>
                        <a:t>SRN,Slopes of peaks</a:t>
                      </a:r>
                    </a:p>
                  </a:txBody>
                  <a:tcPr marL="91425" marR="91425" marT="91425" marB="91425"/>
                </a:tc>
              </a:tr>
              <a:tr h="292225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en" sz="1200"/>
                        <a:t>LMS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lvl="0" rtl="0">
                        <a:spcBef>
                          <a:spcPts val="0"/>
                        </a:spcBef>
                        <a:buNone/>
                      </a:pPr>
                      <a:r>
                        <a:rPr lang="en" sz="1200"/>
                        <a:t>Gaussian filter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en" sz="1200"/>
                        <a:t>Linear interpolation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en" sz="1200"/>
                        <a:t>SRN,Local maximum</a:t>
                      </a:r>
                    </a:p>
                  </a:txBody>
                  <a:tcPr marL="91425" marR="91425" marT="91425" marB="91425"/>
                </a:tc>
              </a:tr>
              <a:tr h="365725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en" sz="1200"/>
                        <a:t>MapQuant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lvl="0" rtl="0">
                        <a:spcBef>
                          <a:spcPts val="0"/>
                        </a:spcBef>
                        <a:buNone/>
                      </a:pPr>
                      <a:r>
                        <a:rPr lang="en" sz="1200"/>
                        <a:t>Moving average filter,Savitzky-Golay filter,Gaussian filter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en" sz="1200"/>
                        <a:t>Model-based criterion</a:t>
                      </a:r>
                    </a:p>
                  </a:txBody>
                  <a:tcPr marL="91425" marR="91425" marT="91425" marB="91425"/>
                </a:tc>
              </a:tr>
              <a:tr h="292225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en" sz="1200"/>
                        <a:t>CWT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lvl="0" rtl="0">
                        <a:spcBef>
                          <a:spcPts val="0"/>
                        </a:spcBef>
                        <a:buNone/>
                      </a:pPr>
                      <a:r>
                        <a:rPr lang="en" sz="1200"/>
                        <a:t>Continuous Wavelet Transform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en" sz="1200"/>
                        <a:t>Continuous Wavelet Transform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en" sz="1200"/>
                        <a:t>SRN,Ridge lines</a:t>
                      </a:r>
                    </a:p>
                  </a:txBody>
                  <a:tcPr marL="91425" marR="91425" marT="91425" marB="91425"/>
                </a:tc>
              </a:tr>
              <a:tr h="292225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en" sz="1200"/>
                        <a:t>msInspect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lvl="0" rtl="0">
                        <a:spcBef>
                          <a:spcPts val="0"/>
                        </a:spcBef>
                        <a:buNone/>
                      </a:pPr>
                      <a:r>
                        <a:rPr lang="en" sz="1200"/>
                        <a:t>Discrete Wavelet Transform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en" sz="1200"/>
                        <a:t>Linear interpolation,Loess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en" sz="1200"/>
                        <a:t>Shape ratio</a:t>
                      </a:r>
                    </a:p>
                  </a:txBody>
                  <a:tcPr marL="91425" marR="91425" marT="91425" marB="91425"/>
                </a:tc>
              </a:tr>
              <a:tr h="292225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en" sz="1200"/>
                        <a:t>mzMine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lvl="0" rtl="0">
                        <a:spcBef>
                          <a:spcPts val="0"/>
                        </a:spcBef>
                        <a:buNone/>
                      </a:pPr>
                      <a:r>
                        <a:rPr lang="en" sz="1200"/>
                        <a:t>Moving average filter,Savitzky-Golay filter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en" sz="1200"/>
                        <a:t>Monotone minimum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en" sz="1200"/>
                        <a:t>SRN,Detection/Intensity threshold,Peak width</a:t>
                      </a:r>
                    </a:p>
                  </a:txBody>
                  <a:tcPr marL="91425" marR="91425" marT="91425" marB="91425"/>
                </a:tc>
              </a:tr>
              <a:tr h="365725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en" sz="1200"/>
                        <a:t>OpenMS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en" sz="1200" dirty="0"/>
                        <a:t>Continuous Wavelet Transform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en" sz="1200"/>
                        <a:t>Model-based criterion</a:t>
                      </a:r>
                    </a:p>
                  </a:txBody>
                  <a:tcPr marL="91425" marR="91425" marT="91425" marB="91425"/>
                </a:tc>
              </a:tr>
              <a:tr h="292225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en" sz="1200"/>
                        <a:t>PROcess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en" sz="1200"/>
                        <a:t>Moving average filter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en" sz="1200"/>
                        <a:t>SRN,Detection/Intensity threshold,Shape ratio</a:t>
                      </a:r>
                    </a:p>
                  </a:txBody>
                  <a:tcPr marL="91425" marR="91425" marT="91425" marB="91425"/>
                </a:tc>
              </a:tr>
              <a:tr h="365725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en" sz="1200"/>
                        <a:t>PreMS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en" sz="1200"/>
                        <a:t>Undecimated Discrete Wavelet Transform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en" sz="1200"/>
                        <a:t>SRN,Local maximum</a:t>
                      </a:r>
                    </a:p>
                  </a:txBody>
                  <a:tcPr marL="91425" marR="91425" marT="91425" marB="91425"/>
                </a:tc>
              </a:tr>
              <a:tr h="365725">
                <a:tc>
                  <a:txBody>
                    <a:bodyPr/>
                    <a:lstStyle/>
                    <a:p>
                      <a:pPr rtl="0">
                        <a:spcBef>
                          <a:spcPts val="0"/>
                        </a:spcBef>
                        <a:buNone/>
                      </a:pPr>
                      <a:r>
                        <a:rPr lang="en" sz="1200"/>
                        <a:t>XCMS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en" sz="1200"/>
                        <a:t>Gaussian filter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en" sz="1200" dirty="0"/>
                        <a:t>SRN,Local maximum</a:t>
                      </a:r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  <p:sp>
        <p:nvSpPr>
          <p:cNvPr id="148" name="Shape 148"/>
          <p:cNvSpPr txBox="1"/>
          <p:nvPr/>
        </p:nvSpPr>
        <p:spPr>
          <a:xfrm>
            <a:off x="670000" y="-152800"/>
            <a:ext cx="7239000" cy="795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" sz="2000"/>
              <a:t>Open Source Software Packages for MS Analysis</a:t>
            </a:r>
          </a:p>
        </p:txBody>
      </p:sp>
      <p:sp>
        <p:nvSpPr>
          <p:cNvPr id="149" name="Shape 149"/>
          <p:cNvSpPr txBox="1"/>
          <p:nvPr/>
        </p:nvSpPr>
        <p:spPr>
          <a:xfrm>
            <a:off x="184375" y="6379075"/>
            <a:ext cx="8462099" cy="402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en" sz="1000" dirty="0"/>
              <a:t>Adapted from: </a:t>
            </a:r>
            <a:r>
              <a:rPr lang="en" sz="1000" dirty="0">
                <a:solidFill>
                  <a:schemeClr val="dk1"/>
                </a:solidFill>
              </a:rPr>
              <a:t>Comparison of public peak detection algorithms for MALDI mass spectrometry data analysis. (</a:t>
            </a:r>
            <a:r>
              <a:rPr lang="en" sz="1000" dirty="0"/>
              <a:t>C. Yang </a:t>
            </a:r>
            <a:r>
              <a:rPr lang="en" sz="1000" i="1" dirty="0"/>
              <a:t>et. al. </a:t>
            </a:r>
            <a:r>
              <a:rPr lang="en" sz="1000" dirty="0"/>
              <a:t>2009)</a:t>
            </a:r>
          </a:p>
        </p:txBody>
      </p:sp>
    </p:spTree>
  </p:cSld>
  <p:clrMapOvr>
    <a:masterClrMapping/>
  </p:clrMapOvr>
  <p:transition xmlns:p14="http://schemas.microsoft.com/office/powerpoint/2010/main" spd="slow">
    <p:cut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hape 161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522199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Introduction</a:t>
            </a:r>
          </a:p>
        </p:txBody>
      </p:sp>
      <p:sp>
        <p:nvSpPr>
          <p:cNvPr id="162" name="Shape 162"/>
          <p:cNvSpPr txBox="1">
            <a:spLocks noGrp="1"/>
          </p:cNvSpPr>
          <p:nvPr>
            <p:ph type="body" idx="1"/>
          </p:nvPr>
        </p:nvSpPr>
        <p:spPr>
          <a:xfrm>
            <a:off x="457200" y="1947332"/>
            <a:ext cx="8229600" cy="46202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rtl="0">
              <a:spcBef>
                <a:spcPts val="0"/>
              </a:spcBef>
              <a:buNone/>
            </a:pPr>
            <a:endParaRPr sz="1800" dirty="0"/>
          </a:p>
          <a:p>
            <a:pPr lvl="0" rtl="0">
              <a:spcBef>
                <a:spcPts val="0"/>
              </a:spcBef>
              <a:buNone/>
            </a:pPr>
            <a:endParaRPr sz="1800" dirty="0"/>
          </a:p>
        </p:txBody>
      </p:sp>
      <p:sp>
        <p:nvSpPr>
          <p:cNvPr id="163" name="Shape 163"/>
          <p:cNvSpPr txBox="1">
            <a:spLocks noGrp="1"/>
          </p:cNvSpPr>
          <p:nvPr>
            <p:ph type="sldNum" idx="12"/>
          </p:nvPr>
        </p:nvSpPr>
        <p:spPr>
          <a:xfrm>
            <a:off x="8240995" y="6333125"/>
            <a:ext cx="864599" cy="524999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fld id="{00000000-1234-1234-1234-123412341234}" type="slidenum">
              <a:rPr lang="en" smtClean="0"/>
              <a:t>11</a:t>
            </a:fld>
            <a:r>
              <a:rPr lang="en" dirty="0" smtClean="0"/>
              <a:t>/</a:t>
            </a:r>
            <a:r>
              <a:rPr lang="en-US" dirty="0" smtClean="0"/>
              <a:t>37</a:t>
            </a:r>
            <a:endParaRPr lang="en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0097071"/>
              </p:ext>
            </p:extLst>
          </p:nvPr>
        </p:nvGraphicFramePr>
        <p:xfrm>
          <a:off x="457200" y="3259670"/>
          <a:ext cx="7943136" cy="1720160"/>
        </p:xfrm>
        <a:graphic>
          <a:graphicData uri="http://schemas.openxmlformats.org/drawingml/2006/table">
            <a:tbl>
              <a:tblPr firstRow="1" bandRow="1">
                <a:tableStyleId>{22F0721F-08A2-4DAB-8A2F-E9D09D0CF68C}</a:tableStyleId>
              </a:tblPr>
              <a:tblGrid>
                <a:gridCol w="1863528"/>
                <a:gridCol w="1863528"/>
                <a:gridCol w="4216080"/>
              </a:tblGrid>
              <a:tr h="775281">
                <a:tc>
                  <a:txBody>
                    <a:bodyPr/>
                    <a:lstStyle/>
                    <a:p>
                      <a:r>
                        <a:rPr lang="en-US" dirty="0" smtClean="0"/>
                        <a:t>Peaks Alignment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1400" dirty="0" smtClean="0"/>
                        <a:t>Biomarker Analysis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1400" dirty="0" smtClean="0"/>
                        <a:t>Feature Extraction/Selection</a:t>
                      </a:r>
                    </a:p>
                    <a:p>
                      <a:endParaRPr lang="en-US" dirty="0"/>
                    </a:p>
                  </a:txBody>
                  <a:tcPr/>
                </a:tc>
              </a:tr>
              <a:tr h="526218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icoshift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PCA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ABC</a:t>
                      </a:r>
                      <a:endParaRPr lang="en" sz="140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1400" dirty="0" smtClean="0"/>
                        <a:t>Genetic Algorithms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Correlation</a:t>
                      </a:r>
                    </a:p>
                    <a:p>
                      <a:r>
                        <a:rPr lang="en-US" dirty="0" smtClean="0"/>
                        <a:t>Statistics</a:t>
                      </a:r>
                    </a:p>
                    <a:p>
                      <a:r>
                        <a:rPr lang="en-US" dirty="0" smtClean="0"/>
                        <a:t>Counting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557051" y="2595596"/>
            <a:ext cx="28648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Other Strategies and Software for </a:t>
            </a:r>
            <a:endParaRPr lang="en-US" dirty="0"/>
          </a:p>
        </p:txBody>
      </p:sp>
    </p:spTree>
  </p:cSld>
  <p:clrMapOvr>
    <a:masterClrMapping/>
  </p:clrMapOvr>
  <p:transition xmlns:p14="http://schemas.microsoft.com/office/powerpoint/2010/main" spd="slow">
    <p:cut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hape 182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522199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"/>
              <a:t>Introduction</a:t>
            </a:r>
          </a:p>
        </p:txBody>
      </p:sp>
      <p:sp>
        <p:nvSpPr>
          <p:cNvPr id="183" name="Shape 183"/>
          <p:cNvSpPr txBox="1">
            <a:spLocks noGrp="1"/>
          </p:cNvSpPr>
          <p:nvPr>
            <p:ph type="body" idx="1"/>
          </p:nvPr>
        </p:nvSpPr>
        <p:spPr>
          <a:xfrm>
            <a:off x="457200" y="1947332"/>
            <a:ext cx="8229600" cy="46202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419100" rtl="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Char char="●"/>
            </a:pPr>
            <a:r>
              <a:rPr lang="en" dirty="0"/>
              <a:t>Computational Problems</a:t>
            </a:r>
          </a:p>
          <a:p>
            <a:pPr marL="914400" lvl="1" indent="-381000" rtl="0">
              <a:spcBef>
                <a:spcPts val="0"/>
              </a:spcBef>
              <a:buClr>
                <a:schemeClr val="dk2"/>
              </a:buClr>
              <a:buSzPct val="80000"/>
              <a:buFont typeface="Courier New"/>
              <a:buChar char="o"/>
            </a:pPr>
            <a:r>
              <a:rPr lang="en" dirty="0" smtClean="0"/>
              <a:t>Different </a:t>
            </a:r>
            <a:r>
              <a:rPr lang="en" dirty="0"/>
              <a:t>spectral resolutions</a:t>
            </a:r>
          </a:p>
          <a:p>
            <a:pPr marL="914400" lvl="1" indent="-381000" rtl="0">
              <a:spcBef>
                <a:spcPts val="0"/>
              </a:spcBef>
              <a:buClr>
                <a:schemeClr val="dk2"/>
              </a:buClr>
              <a:buSzPct val="80000"/>
              <a:buFont typeface="Courier New"/>
              <a:buChar char="o"/>
            </a:pPr>
            <a:r>
              <a:rPr lang="en" dirty="0"/>
              <a:t>Tools</a:t>
            </a:r>
          </a:p>
          <a:p>
            <a:pPr marL="1371600" lvl="2" indent="-381000" rtl="0">
              <a:spcBef>
                <a:spcPts val="0"/>
              </a:spcBef>
              <a:buClr>
                <a:schemeClr val="dk2"/>
              </a:buClr>
              <a:buSzPct val="80000"/>
              <a:buFont typeface="Wingdings"/>
              <a:buChar char="§"/>
            </a:pPr>
            <a:r>
              <a:rPr lang="en" dirty="0"/>
              <a:t>Different Approaches</a:t>
            </a:r>
          </a:p>
          <a:p>
            <a:pPr marL="1371600" lvl="2" indent="-381000">
              <a:spcBef>
                <a:spcPts val="0"/>
              </a:spcBef>
              <a:buClr>
                <a:schemeClr val="dk2"/>
              </a:buClr>
              <a:buSzPct val="80000"/>
              <a:buFont typeface="Wingdings"/>
              <a:buChar char="§"/>
            </a:pPr>
            <a:r>
              <a:rPr lang="en" dirty="0" smtClean="0"/>
              <a:t>Incompatibility </a:t>
            </a:r>
            <a:r>
              <a:rPr lang="en" dirty="0"/>
              <a:t>of Tools</a:t>
            </a:r>
          </a:p>
        </p:txBody>
      </p:sp>
      <p:sp>
        <p:nvSpPr>
          <p:cNvPr id="184" name="Shape 184"/>
          <p:cNvSpPr txBox="1">
            <a:spLocks noGrp="1"/>
          </p:cNvSpPr>
          <p:nvPr>
            <p:ph type="sldNum" idx="12"/>
          </p:nvPr>
        </p:nvSpPr>
        <p:spPr>
          <a:xfrm>
            <a:off x="8240995" y="6333125"/>
            <a:ext cx="864599" cy="524999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fld id="{00000000-1234-1234-1234-123412341234}" type="slidenum">
              <a:rPr lang="en" smtClean="0"/>
              <a:t>12</a:t>
            </a:fld>
            <a:r>
              <a:rPr lang="en" dirty="0" smtClean="0"/>
              <a:t>/</a:t>
            </a:r>
            <a:r>
              <a:rPr lang="en-US" dirty="0" smtClean="0"/>
              <a:t>37</a:t>
            </a:r>
            <a:endParaRPr lang="en" dirty="0"/>
          </a:p>
        </p:txBody>
      </p:sp>
    </p:spTree>
  </p:cSld>
  <p:clrMapOvr>
    <a:masterClrMapping/>
  </p:clrMapOvr>
  <p:transition xmlns:p14="http://schemas.microsoft.com/office/powerpoint/2010/main" spd="slow">
    <p:cut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Motivation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pPr marL="0" indent="0" algn="ctr">
              <a:buNone/>
            </a:pPr>
            <a:r>
              <a:rPr lang="en-US" dirty="0" smtClean="0"/>
              <a:t>The user </a:t>
            </a:r>
            <a:r>
              <a:rPr lang="en-US" dirty="0"/>
              <a:t>friendly computational tools are lacking the capability of integrating all the steps in mass spectrometry data </a:t>
            </a:r>
            <a:r>
              <a:rPr lang="en-US" dirty="0" smtClean="0"/>
              <a:t>analysis. 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spcBef>
                <a:spcPts val="0"/>
              </a:spcBef>
              <a:buNone/>
            </a:pPr>
            <a:fld id="{00000000-1234-1234-1234-123412341234}" type="slidenum">
              <a:rPr lang="en" smtClean="0"/>
              <a:t>13</a:t>
            </a:fld>
            <a:r>
              <a:rPr lang="en" dirty="0" smtClean="0"/>
              <a:t>/</a:t>
            </a:r>
            <a:r>
              <a:rPr lang="en-US" dirty="0" smtClean="0"/>
              <a:t>37</a:t>
            </a:r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404463700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Shape 175"/>
          <p:cNvSpPr txBox="1">
            <a:spLocks noGrp="1"/>
          </p:cNvSpPr>
          <p:nvPr>
            <p:ph type="body" idx="1"/>
          </p:nvPr>
        </p:nvSpPr>
        <p:spPr>
          <a:xfrm>
            <a:off x="457200" y="1947332"/>
            <a:ext cx="8229600" cy="4620299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3200" dirty="0">
                <a:solidFill>
                  <a:schemeClr val="dk1"/>
                </a:solidFill>
              </a:rPr>
              <a:t>Propose an simple way to analysis mass spectrometry data using approaches such Artificial </a:t>
            </a:r>
            <a:r>
              <a:rPr lang="en" sz="3200" dirty="0" smtClean="0">
                <a:solidFill>
                  <a:schemeClr val="dk1"/>
                </a:solidFill>
              </a:rPr>
              <a:t>Intelligence,Automatic </a:t>
            </a:r>
            <a:r>
              <a:rPr lang="en" sz="3200" dirty="0">
                <a:solidFill>
                  <a:schemeClr val="dk1"/>
                </a:solidFill>
              </a:rPr>
              <a:t>Feature Extraction and Statistical Analysis</a:t>
            </a:r>
          </a:p>
          <a:p>
            <a:pPr lvl="0">
              <a:spcBef>
                <a:spcPts val="0"/>
              </a:spcBef>
              <a:buNone/>
            </a:pPr>
            <a:endParaRPr sz="3200" dirty="0"/>
          </a:p>
        </p:txBody>
      </p:sp>
      <p:sp>
        <p:nvSpPr>
          <p:cNvPr id="176" name="Shape 176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522199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"/>
              <a:t>General Objective</a:t>
            </a:r>
          </a:p>
        </p:txBody>
      </p:sp>
      <p:sp>
        <p:nvSpPr>
          <p:cNvPr id="177" name="Shape 177"/>
          <p:cNvSpPr txBox="1">
            <a:spLocks noGrp="1"/>
          </p:cNvSpPr>
          <p:nvPr>
            <p:ph type="sldNum" idx="12"/>
          </p:nvPr>
        </p:nvSpPr>
        <p:spPr>
          <a:xfrm>
            <a:off x="8240995" y="6333125"/>
            <a:ext cx="864599" cy="524999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fld id="{00000000-1234-1234-1234-123412341234}" type="slidenum">
              <a:rPr lang="en" smtClean="0"/>
              <a:t>14</a:t>
            </a:fld>
            <a:r>
              <a:rPr lang="en" dirty="0" smtClean="0"/>
              <a:t>/</a:t>
            </a:r>
            <a:r>
              <a:rPr lang="en-US" dirty="0" smtClean="0"/>
              <a:t>37</a:t>
            </a:r>
            <a:endParaRPr lang="en" dirty="0"/>
          </a:p>
        </p:txBody>
      </p:sp>
    </p:spTree>
  </p:cSld>
  <p:clrMapOvr>
    <a:masterClrMapping/>
  </p:clrMapOvr>
  <p:transition xmlns:p14="http://schemas.microsoft.com/office/powerpoint/2010/main" spd="slow">
    <p:cut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hape 189"/>
          <p:cNvSpPr txBox="1">
            <a:spLocks noGrp="1"/>
          </p:cNvSpPr>
          <p:nvPr>
            <p:ph type="body" idx="1"/>
          </p:nvPr>
        </p:nvSpPr>
        <p:spPr>
          <a:xfrm>
            <a:off x="10448638" y="1135300"/>
            <a:ext cx="8229600" cy="46202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37465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en" sz="2300" dirty="0">
                <a:solidFill>
                  <a:schemeClr val="dk1"/>
                </a:solidFill>
              </a:rPr>
              <a:t>Create a MATLAB function library for mass spectrometry data analysis.</a:t>
            </a:r>
          </a:p>
          <a:p>
            <a:pPr marL="457200" lvl="0" indent="-37465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en" sz="2300" dirty="0">
                <a:solidFill>
                  <a:schemeClr val="dk1"/>
                </a:solidFill>
              </a:rPr>
              <a:t>Run tests on public data proving the generic functionality in all data</a:t>
            </a:r>
          </a:p>
          <a:p>
            <a:pPr marL="457200" lvl="0" indent="-37465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en" sz="2300" dirty="0">
                <a:solidFill>
                  <a:schemeClr val="dk1"/>
                </a:solidFill>
              </a:rPr>
              <a:t>Develop a simple interface to handle mass spectrometry data.</a:t>
            </a:r>
          </a:p>
          <a:p>
            <a:pPr marL="457200" lvl="0" indent="-37465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en" sz="2300" dirty="0">
                <a:solidFill>
                  <a:schemeClr val="dk1"/>
                </a:solidFill>
              </a:rPr>
              <a:t>Publish a scientific article with the results generated with ML-MS Studio.</a:t>
            </a:r>
          </a:p>
          <a:p>
            <a:pPr marL="457200" lvl="0" indent="-374650" rtl="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2300" dirty="0">
                <a:solidFill>
                  <a:schemeClr val="dk1"/>
                </a:solidFill>
              </a:rPr>
              <a:t>Release ML-MS Studio as open source software on SourceForge.</a:t>
            </a:r>
          </a:p>
        </p:txBody>
      </p:sp>
      <p:sp>
        <p:nvSpPr>
          <p:cNvPr id="190" name="Shape 190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522199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"/>
              <a:t>Specifics</a:t>
            </a:r>
          </a:p>
        </p:txBody>
      </p:sp>
      <p:sp>
        <p:nvSpPr>
          <p:cNvPr id="191" name="Shape 191"/>
          <p:cNvSpPr txBox="1">
            <a:spLocks noGrp="1"/>
          </p:cNvSpPr>
          <p:nvPr>
            <p:ph type="sldNum" idx="12"/>
          </p:nvPr>
        </p:nvSpPr>
        <p:spPr>
          <a:xfrm>
            <a:off x="8240995" y="6333125"/>
            <a:ext cx="864599" cy="524999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fld id="{00000000-1234-1234-1234-123412341234}" type="slidenum">
              <a:rPr lang="en" smtClean="0"/>
              <a:t>15</a:t>
            </a:fld>
            <a:r>
              <a:rPr lang="en" dirty="0" smtClean="0"/>
              <a:t>/</a:t>
            </a:r>
            <a:r>
              <a:rPr lang="en-US" dirty="0" smtClean="0"/>
              <a:t>37</a:t>
            </a:r>
            <a:endParaRPr lang="en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1561631"/>
              </p:ext>
            </p:extLst>
          </p:nvPr>
        </p:nvGraphicFramePr>
        <p:xfrm>
          <a:off x="457200" y="2285900"/>
          <a:ext cx="8017164" cy="3925554"/>
        </p:xfrm>
        <a:graphic>
          <a:graphicData uri="http://schemas.openxmlformats.org/drawingml/2006/table">
            <a:tbl>
              <a:tblPr firstRow="1" bandRow="1">
                <a:tableStyleId>{22F0721F-08A2-4DAB-8A2F-E9D09D0CF68C}</a:tableStyleId>
              </a:tblPr>
              <a:tblGrid>
                <a:gridCol w="4008582"/>
                <a:gridCol w="4008582"/>
              </a:tblGrid>
              <a:tr h="654259">
                <a:tc>
                  <a:txBody>
                    <a:bodyPr/>
                    <a:lstStyle/>
                    <a:p>
                      <a:r>
                        <a:rPr lang="en-US" sz="2000" b="1" dirty="0" smtClean="0"/>
                        <a:t>Objective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smtClean="0"/>
                        <a:t>Status</a:t>
                      </a:r>
                      <a:endParaRPr lang="en-US" sz="2000" b="1" dirty="0"/>
                    </a:p>
                  </a:txBody>
                  <a:tcPr/>
                </a:tc>
              </a:tr>
              <a:tr h="654259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MATLAB Library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Ok</a:t>
                      </a:r>
                      <a:endParaRPr lang="en-US" sz="2000" dirty="0"/>
                    </a:p>
                  </a:txBody>
                  <a:tcPr/>
                </a:tc>
              </a:tr>
              <a:tr h="654259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Run</a:t>
                      </a:r>
                      <a:r>
                        <a:rPr lang="en-US" sz="2000" baseline="0" dirty="0" smtClean="0"/>
                        <a:t> Tests on public database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Ok</a:t>
                      </a:r>
                      <a:endParaRPr lang="en-US" sz="2000" dirty="0"/>
                    </a:p>
                  </a:txBody>
                  <a:tcPr/>
                </a:tc>
              </a:tr>
              <a:tr h="654259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Develop GUI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Alpha Tests</a:t>
                      </a:r>
                      <a:endParaRPr lang="en-US" sz="2000" dirty="0"/>
                    </a:p>
                  </a:txBody>
                  <a:tcPr/>
                </a:tc>
              </a:tr>
              <a:tr h="654259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Scientific</a:t>
                      </a:r>
                      <a:r>
                        <a:rPr lang="en-US" sz="2000" baseline="0" dirty="0" smtClean="0"/>
                        <a:t> Article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Working</a:t>
                      </a:r>
                      <a:endParaRPr lang="en-US" sz="2000" dirty="0"/>
                    </a:p>
                  </a:txBody>
                  <a:tcPr/>
                </a:tc>
              </a:tr>
              <a:tr h="654259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Release</a:t>
                      </a:r>
                      <a:r>
                        <a:rPr lang="en-US" sz="2000" baseline="0" dirty="0" smtClean="0"/>
                        <a:t> as Open-Source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Last Version Release</a:t>
                      </a:r>
                      <a:endParaRPr lang="en-US" sz="20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slow">
    <p:cut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Shape 196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522199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"/>
              <a:t>Methods</a:t>
            </a:r>
          </a:p>
        </p:txBody>
      </p:sp>
      <p:sp>
        <p:nvSpPr>
          <p:cNvPr id="197" name="Shape 197"/>
          <p:cNvSpPr txBox="1">
            <a:spLocks noGrp="1"/>
          </p:cNvSpPr>
          <p:nvPr>
            <p:ph type="body" idx="1"/>
          </p:nvPr>
        </p:nvSpPr>
        <p:spPr>
          <a:xfrm>
            <a:off x="457200" y="1947332"/>
            <a:ext cx="8229600" cy="46202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r>
              <a:rPr lang="x-none" b="1" dirty="0" smtClean="0"/>
              <a:t>Data Format</a:t>
            </a:r>
          </a:p>
          <a:p>
            <a:r>
              <a:rPr lang="x-none" sz="2400" b="1" dirty="0" smtClean="0"/>
              <a:t>Peaks Selection</a:t>
            </a:r>
          </a:p>
          <a:p>
            <a:pPr marL="800100" lvl="3" indent="-342900"/>
            <a:r>
              <a:rPr lang="x-none" dirty="0"/>
              <a:t>FMA </a:t>
            </a:r>
            <a:r>
              <a:rPr lang="en-US" dirty="0"/>
              <a:t>–</a:t>
            </a:r>
            <a:r>
              <a:rPr lang="x-none" dirty="0"/>
              <a:t> Fuzzy Moving </a:t>
            </a:r>
            <a:r>
              <a:rPr lang="x-none" dirty="0" smtClean="0"/>
              <a:t>Average</a:t>
            </a:r>
            <a:endParaRPr lang="x-none" sz="2400" b="1" dirty="0" smtClean="0"/>
          </a:p>
          <a:p>
            <a:r>
              <a:rPr lang="x-none" b="1" dirty="0" smtClean="0"/>
              <a:t>Feature Extraction</a:t>
            </a:r>
          </a:p>
          <a:p>
            <a:pPr lvl="1"/>
            <a:r>
              <a:rPr lang="x-none" sz="1800" dirty="0" smtClean="0"/>
              <a:t>Best peaks Selection</a:t>
            </a:r>
          </a:p>
          <a:p>
            <a:pPr lvl="1"/>
            <a:r>
              <a:rPr lang="x-none" sz="1800" dirty="0"/>
              <a:t>Watch </a:t>
            </a:r>
            <a:r>
              <a:rPr lang="x-none" sz="1800" dirty="0" smtClean="0"/>
              <a:t>Points</a:t>
            </a:r>
          </a:p>
          <a:p>
            <a:pPr lvl="1"/>
            <a:r>
              <a:rPr lang="x-none" sz="1800" dirty="0"/>
              <a:t>Feature </a:t>
            </a:r>
            <a:r>
              <a:rPr lang="x-none" sz="1800" dirty="0" smtClean="0"/>
              <a:t>Resonance</a:t>
            </a:r>
            <a:endParaRPr lang="x-none" sz="1800" b="1" dirty="0" smtClean="0"/>
          </a:p>
          <a:p>
            <a:r>
              <a:rPr lang="x-none" sz="2400" b="1" dirty="0" smtClean="0"/>
              <a:t>Classification</a:t>
            </a:r>
          </a:p>
          <a:p>
            <a:pPr lvl="1"/>
            <a:r>
              <a:rPr lang="x-none" sz="1800" dirty="0"/>
              <a:t>Neural Network</a:t>
            </a:r>
          </a:p>
          <a:p>
            <a:pPr lvl="1"/>
            <a:r>
              <a:rPr lang="x-none" sz="1800" dirty="0" smtClean="0"/>
              <a:t>PCA</a:t>
            </a:r>
            <a:r>
              <a:rPr lang="x-none" dirty="0" smtClean="0"/>
              <a:t>		</a:t>
            </a:r>
          </a:p>
        </p:txBody>
      </p:sp>
      <p:sp>
        <p:nvSpPr>
          <p:cNvPr id="198" name="Shape 198"/>
          <p:cNvSpPr txBox="1">
            <a:spLocks noGrp="1"/>
          </p:cNvSpPr>
          <p:nvPr>
            <p:ph type="sldNum" idx="12"/>
          </p:nvPr>
        </p:nvSpPr>
        <p:spPr>
          <a:xfrm>
            <a:off x="8240995" y="6333125"/>
            <a:ext cx="864599" cy="524999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fld id="{00000000-1234-1234-1234-123412341234}" type="slidenum">
              <a:rPr lang="en" smtClean="0"/>
              <a:t>16</a:t>
            </a:fld>
            <a:r>
              <a:rPr lang="en" dirty="0" smtClean="0"/>
              <a:t>/</a:t>
            </a:r>
            <a:r>
              <a:rPr lang="en-US" dirty="0" smtClean="0"/>
              <a:t>37</a:t>
            </a:r>
            <a:endParaRPr lang="en" dirty="0"/>
          </a:p>
        </p:txBody>
      </p:sp>
    </p:spTree>
  </p:cSld>
  <p:clrMapOvr>
    <a:masterClrMapping/>
  </p:clrMapOvr>
  <p:transition xmlns:p14="http://schemas.microsoft.com/office/powerpoint/2010/main" spd="slow">
    <p:cut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spcBef>
                <a:spcPts val="0"/>
              </a:spcBef>
              <a:buNone/>
            </a:pPr>
            <a:fld id="{00000000-1234-1234-1234-123412341234}" type="slidenum">
              <a:rPr lang="en" smtClean="0"/>
              <a:t>17</a:t>
            </a:fld>
            <a:r>
              <a:rPr lang="en" dirty="0" smtClean="0"/>
              <a:t>/</a:t>
            </a:r>
            <a:r>
              <a:rPr lang="en-US" dirty="0" smtClean="0"/>
              <a:t>37</a:t>
            </a:r>
            <a:endParaRPr lang="en" dirty="0"/>
          </a:p>
        </p:txBody>
      </p:sp>
      <p:sp>
        <p:nvSpPr>
          <p:cNvPr id="7" name="TextBox 6"/>
          <p:cNvSpPr txBox="1"/>
          <p:nvPr/>
        </p:nvSpPr>
        <p:spPr>
          <a:xfrm>
            <a:off x="309216" y="2153478"/>
            <a:ext cx="8377583" cy="120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400" dirty="0" smtClean="0"/>
              <a:t>Multiple Data Formats</a:t>
            </a:r>
          </a:p>
          <a:p>
            <a:pPr lvl="2"/>
            <a:r>
              <a:rPr lang="en-US" sz="2400" dirty="0" smtClean="0"/>
              <a:t>	MZML	</a:t>
            </a:r>
            <a:r>
              <a:rPr lang="en-US" sz="2400" dirty="0"/>
              <a:t>	</a:t>
            </a:r>
            <a:endParaRPr lang="en-US" sz="2400" dirty="0" smtClean="0"/>
          </a:p>
          <a:p>
            <a:pPr marL="342900" lvl="8" indent="-342900">
              <a:buFont typeface="Arial"/>
              <a:buChar char="•"/>
            </a:pPr>
            <a:r>
              <a:rPr lang="en-US" sz="2400" dirty="0" smtClean="0"/>
              <a:t>Raw Data</a:t>
            </a:r>
          </a:p>
        </p:txBody>
      </p:sp>
      <p:pic>
        <p:nvPicPr>
          <p:cNvPr id="8" name="Picture 7" descr="Sample raw data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1247" y="2738776"/>
            <a:ext cx="2336962" cy="359434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5422903" y="2374354"/>
            <a:ext cx="1203188" cy="4041913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626091" y="2374354"/>
            <a:ext cx="1358344" cy="4041913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758132" y="2430999"/>
            <a:ext cx="4937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M/Z</a:t>
            </a:r>
            <a:endParaRPr lang="en-US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6880091" y="2430999"/>
            <a:ext cx="9228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Intensity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0477810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Peaks Selection with FMA.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spcBef>
                <a:spcPts val="0"/>
              </a:spcBef>
              <a:buNone/>
            </a:pPr>
            <a:fld id="{00000000-1234-1234-1234-123412341234}" type="slidenum">
              <a:rPr lang="en" smtClean="0"/>
              <a:t>18</a:t>
            </a:fld>
            <a:r>
              <a:rPr lang="en" dirty="0" smtClean="0"/>
              <a:t>/</a:t>
            </a:r>
            <a:r>
              <a:rPr lang="en-US" dirty="0" smtClean="0"/>
              <a:t>37</a:t>
            </a:r>
            <a:endParaRPr lang="en" dirty="0"/>
          </a:p>
        </p:txBody>
      </p:sp>
      <p:pic>
        <p:nvPicPr>
          <p:cNvPr id="5" name="Picture 4" descr="FMAPeaksSelectionResiz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715" y="1565030"/>
            <a:ext cx="6346558" cy="475991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04206" y="6065052"/>
            <a:ext cx="70301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Figure: Fuzzy Moving Average peaks selection, different window comparison (Author).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972369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FMA?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spcBef>
                <a:spcPts val="0"/>
              </a:spcBef>
              <a:buNone/>
            </a:pPr>
            <a:fld id="{00000000-1234-1234-1234-123412341234}" type="slidenum">
              <a:rPr lang="en" smtClean="0"/>
              <a:t>19</a:t>
            </a:fld>
            <a:r>
              <a:rPr lang="en" dirty="0" smtClean="0"/>
              <a:t>/</a:t>
            </a:r>
            <a:r>
              <a:rPr lang="en-US" dirty="0" smtClean="0"/>
              <a:t>37</a:t>
            </a:r>
            <a:endParaRPr lang="e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0355" y="1889200"/>
            <a:ext cx="9813526" cy="19153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16404" y="6439488"/>
            <a:ext cx="69000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Figure: Comparison smooth capability of FMA (1) and Moving average (2) (Author) </a:t>
            </a:r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96008" y="1889200"/>
            <a:ext cx="385255" cy="385255"/>
          </a:xfrm>
          <a:prstGeom prst="ellipse">
            <a:avLst/>
          </a:prstGeom>
          <a:solidFill>
            <a:schemeClr val="accent6">
              <a:lumMod val="10000"/>
              <a:lumOff val="90000"/>
            </a:scheme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Oval 8"/>
          <p:cNvSpPr/>
          <p:nvPr/>
        </p:nvSpPr>
        <p:spPr>
          <a:xfrm>
            <a:off x="4566408" y="1958473"/>
            <a:ext cx="385255" cy="385255"/>
          </a:xfrm>
          <a:prstGeom prst="ellipse">
            <a:avLst/>
          </a:prstGeom>
          <a:solidFill>
            <a:schemeClr val="accent6">
              <a:lumMod val="10000"/>
              <a:lumOff val="90000"/>
            </a:scheme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2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446" t="20938" r="27613" b="23950"/>
          <a:stretch/>
        </p:blipFill>
        <p:spPr>
          <a:xfrm>
            <a:off x="5264727" y="3804592"/>
            <a:ext cx="621515" cy="2273037"/>
          </a:xfrm>
          <a:prstGeom prst="rect">
            <a:avLst/>
          </a:prstGeom>
          <a:ln>
            <a:solidFill>
              <a:srgbClr val="7E5554"/>
            </a:solidFill>
          </a:ln>
        </p:spPr>
      </p:pic>
      <p:cxnSp>
        <p:nvCxnSpPr>
          <p:cNvPr id="6" name="Straight Connector 5"/>
          <p:cNvCxnSpPr/>
          <p:nvPr/>
        </p:nvCxnSpPr>
        <p:spPr>
          <a:xfrm flipV="1">
            <a:off x="5264727" y="2482274"/>
            <a:ext cx="1143000" cy="132231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5886242" y="2967183"/>
            <a:ext cx="856303" cy="22513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92" t="15971" r="76908" b="25758"/>
          <a:stretch/>
        </p:blipFill>
        <p:spPr>
          <a:xfrm>
            <a:off x="3267364" y="3856185"/>
            <a:ext cx="773545" cy="2199428"/>
          </a:xfrm>
          <a:prstGeom prst="rect">
            <a:avLst/>
          </a:prstGeom>
          <a:ln>
            <a:solidFill>
              <a:srgbClr val="7E5554"/>
            </a:solidFill>
          </a:ln>
        </p:spPr>
      </p:pic>
      <p:cxnSp>
        <p:nvCxnSpPr>
          <p:cNvPr id="16" name="Straight Connector 15"/>
          <p:cNvCxnSpPr/>
          <p:nvPr/>
        </p:nvCxnSpPr>
        <p:spPr>
          <a:xfrm flipH="1" flipV="1">
            <a:off x="1558636" y="2782455"/>
            <a:ext cx="1708728" cy="2667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1916545" y="2782455"/>
            <a:ext cx="2124364" cy="10737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106655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Automatic Feature Extraction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spcBef>
                <a:spcPts val="0"/>
              </a:spcBef>
              <a:buNone/>
            </a:pPr>
            <a:fld id="{00000000-1234-1234-1234-123412341234}" type="slidenum">
              <a:rPr lang="en" smtClean="0"/>
              <a:t>20</a:t>
            </a:fld>
            <a:r>
              <a:rPr lang="en" dirty="0" smtClean="0"/>
              <a:t>/</a:t>
            </a:r>
            <a:r>
              <a:rPr lang="en-US" dirty="0" smtClean="0"/>
              <a:t>37</a:t>
            </a:r>
            <a:endParaRPr lang="en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7294247"/>
              </p:ext>
            </p:extLst>
          </p:nvPr>
        </p:nvGraphicFramePr>
        <p:xfrm>
          <a:off x="457200" y="2138680"/>
          <a:ext cx="8229600" cy="2755206"/>
        </p:xfrm>
        <a:graphic>
          <a:graphicData uri="http://schemas.openxmlformats.org/drawingml/2006/table">
            <a:tbl>
              <a:tblPr firstRow="1" bandRow="1">
                <a:tableStyleId>{22F0721F-08A2-4DAB-8A2F-E9D09D0CF68C}</a:tableStyleId>
              </a:tblPr>
              <a:tblGrid>
                <a:gridCol w="4114800"/>
                <a:gridCol w="4114800"/>
              </a:tblGrid>
              <a:tr h="491682">
                <a:tc>
                  <a:txBody>
                    <a:bodyPr/>
                    <a:lstStyle/>
                    <a:p>
                      <a:r>
                        <a:rPr lang="en-US" sz="2000" b="1" dirty="0" smtClean="0"/>
                        <a:t>Feature Extractor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smtClean="0"/>
                        <a:t>Approach</a:t>
                      </a:r>
                      <a:endParaRPr lang="en-US" sz="2000" b="1" dirty="0"/>
                    </a:p>
                  </a:txBody>
                  <a:tcPr/>
                </a:tc>
              </a:tr>
              <a:tr h="491682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Watch</a:t>
                      </a:r>
                      <a:r>
                        <a:rPr lang="en-US" sz="1800" baseline="0" dirty="0" smtClean="0"/>
                        <a:t> Points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Fuzzy Logic</a:t>
                      </a:r>
                    </a:p>
                    <a:p>
                      <a:r>
                        <a:rPr lang="en-US" sz="1800" dirty="0" smtClean="0"/>
                        <a:t>Genetic</a:t>
                      </a:r>
                      <a:r>
                        <a:rPr lang="en-US" sz="1800" baseline="0" dirty="0" smtClean="0"/>
                        <a:t> Algorithm</a:t>
                      </a:r>
                      <a:endParaRPr lang="en-US" sz="1800" dirty="0"/>
                    </a:p>
                  </a:txBody>
                  <a:tcPr/>
                </a:tc>
              </a:tr>
              <a:tr h="491682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Feature Resonance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Sinusoidal</a:t>
                      </a:r>
                      <a:r>
                        <a:rPr lang="en-US" sz="1800" baseline="0" dirty="0" smtClean="0"/>
                        <a:t> Waves</a:t>
                      </a:r>
                    </a:p>
                    <a:p>
                      <a:r>
                        <a:rPr lang="en-US" sz="1800" baseline="0" dirty="0" smtClean="0"/>
                        <a:t>Genetic Algorithm</a:t>
                      </a:r>
                      <a:endParaRPr lang="en-US" sz="1800" dirty="0"/>
                    </a:p>
                  </a:txBody>
                  <a:tcPr/>
                </a:tc>
              </a:tr>
              <a:tr h="491682">
                <a:tc>
                  <a:txBody>
                    <a:bodyPr/>
                    <a:lstStyle/>
                    <a:p>
                      <a:r>
                        <a:rPr lang="en-US" sz="2000" b="1" dirty="0" smtClean="0"/>
                        <a:t>Adapted</a:t>
                      </a:r>
                      <a:r>
                        <a:rPr lang="en-US" sz="2000" b="1" baseline="0" dirty="0" smtClean="0"/>
                        <a:t> Feature Extractor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smtClean="0"/>
                        <a:t>Approach</a:t>
                      </a:r>
                      <a:endParaRPr lang="en-US" sz="2000" b="1" dirty="0"/>
                    </a:p>
                  </a:txBody>
                  <a:tcPr/>
                </a:tc>
              </a:tr>
              <a:tr h="491682">
                <a:tc>
                  <a:txBody>
                    <a:bodyPr/>
                    <a:lstStyle/>
                    <a:p>
                      <a:r>
                        <a:rPr lang="en-US" sz="1800" b="0" dirty="0" smtClean="0"/>
                        <a:t>Best</a:t>
                      </a:r>
                      <a:r>
                        <a:rPr lang="en-US" sz="1800" b="0" baseline="0" dirty="0" smtClean="0"/>
                        <a:t> Peaks Selection</a:t>
                      </a:r>
                      <a:endParaRPr lang="en-US" sz="1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dirty="0" smtClean="0"/>
                        <a:t>Statistics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549736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Automatic Feature Extraction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spcBef>
                <a:spcPts val="0"/>
              </a:spcBef>
              <a:buNone/>
            </a:pPr>
            <a:fld id="{00000000-1234-1234-1234-123412341234}" type="slidenum">
              <a:rPr lang="en" smtClean="0"/>
              <a:t>21</a:t>
            </a:fld>
            <a:r>
              <a:rPr lang="en" dirty="0" smtClean="0"/>
              <a:t>/</a:t>
            </a:r>
            <a:r>
              <a:rPr lang="en-US" dirty="0" smtClean="0"/>
              <a:t>37</a:t>
            </a:r>
            <a:endParaRPr lang="en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8427115"/>
              </p:ext>
            </p:extLst>
          </p:nvPr>
        </p:nvGraphicFramePr>
        <p:xfrm>
          <a:off x="457200" y="2138680"/>
          <a:ext cx="8229600" cy="3543684"/>
        </p:xfrm>
        <a:graphic>
          <a:graphicData uri="http://schemas.openxmlformats.org/drawingml/2006/table">
            <a:tbl>
              <a:tblPr firstRow="1" bandRow="1">
                <a:tableStyleId>{22F0721F-08A2-4DAB-8A2F-E9D09D0CF68C}</a:tableStyleId>
              </a:tblPr>
              <a:tblGrid>
                <a:gridCol w="4114800"/>
                <a:gridCol w="4114800"/>
              </a:tblGrid>
              <a:tr h="491682">
                <a:tc>
                  <a:txBody>
                    <a:bodyPr/>
                    <a:lstStyle/>
                    <a:p>
                      <a:r>
                        <a:rPr lang="en-US" sz="2000" b="1" dirty="0" smtClean="0"/>
                        <a:t>Variation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smtClean="0"/>
                        <a:t>Description</a:t>
                      </a:r>
                      <a:endParaRPr lang="en-US" sz="2000" b="1" dirty="0"/>
                    </a:p>
                  </a:txBody>
                  <a:tcPr/>
                </a:tc>
              </a:tr>
              <a:tr h="491682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Watch</a:t>
                      </a:r>
                      <a:r>
                        <a:rPr lang="en-US" sz="1800" baseline="0" dirty="0" smtClean="0"/>
                        <a:t> Points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Best Peaks</a:t>
                      </a:r>
                      <a:r>
                        <a:rPr lang="en-US" sz="1800" baseline="0" dirty="0" smtClean="0"/>
                        <a:t> Selection as Watch point Centers</a:t>
                      </a:r>
                      <a:endParaRPr lang="en-US" sz="1800" dirty="0"/>
                    </a:p>
                  </a:txBody>
                  <a:tcPr/>
                </a:tc>
              </a:tr>
              <a:tr h="491682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Feature Resonance with Best Peaks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The</a:t>
                      </a:r>
                      <a:r>
                        <a:rPr lang="en-US" sz="1800" baseline="0" dirty="0" smtClean="0"/>
                        <a:t> best peaks selection are used as input</a:t>
                      </a:r>
                      <a:endParaRPr lang="en-US" sz="1800" dirty="0"/>
                    </a:p>
                  </a:txBody>
                  <a:tcPr/>
                </a:tc>
              </a:tr>
              <a:tr h="491682">
                <a:tc>
                  <a:txBody>
                    <a:bodyPr/>
                    <a:lstStyle/>
                    <a:p>
                      <a:r>
                        <a:rPr lang="en-US" sz="1800" b="0" dirty="0" smtClean="0"/>
                        <a:t>Feature</a:t>
                      </a:r>
                      <a:r>
                        <a:rPr lang="en-US" sz="1800" b="0" baseline="0" dirty="0" smtClean="0"/>
                        <a:t> Resonance with watch point</a:t>
                      </a:r>
                      <a:endParaRPr lang="en-US" sz="1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dirty="0" smtClean="0"/>
                        <a:t>Peaks</a:t>
                      </a:r>
                      <a:r>
                        <a:rPr lang="en-US" sz="1800" b="0" baseline="0" dirty="0" smtClean="0"/>
                        <a:t> selected on the watch point are used as input</a:t>
                      </a:r>
                      <a:endParaRPr lang="en-US" sz="1800" b="0" dirty="0"/>
                    </a:p>
                  </a:txBody>
                  <a:tcPr/>
                </a:tc>
              </a:tr>
              <a:tr h="491682">
                <a:tc>
                  <a:txBody>
                    <a:bodyPr/>
                    <a:lstStyle/>
                    <a:p>
                      <a:r>
                        <a:rPr lang="en-US" sz="1800" b="0" dirty="0" smtClean="0"/>
                        <a:t>Feature</a:t>
                      </a:r>
                      <a:r>
                        <a:rPr lang="en-US" sz="1800" b="0" baseline="0" dirty="0" smtClean="0"/>
                        <a:t> Resonance with all M/Z values</a:t>
                      </a:r>
                      <a:endParaRPr lang="en-US" sz="1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dirty="0" smtClean="0"/>
                        <a:t>Use all</a:t>
                      </a:r>
                      <a:r>
                        <a:rPr lang="en-US" sz="1800" b="0" baseline="0" dirty="0" smtClean="0"/>
                        <a:t> selected peaks m/z value as input</a:t>
                      </a:r>
                      <a:endParaRPr lang="en-US" sz="1800" b="0" dirty="0"/>
                    </a:p>
                  </a:txBody>
                  <a:tcPr/>
                </a:tc>
              </a:tr>
              <a:tr h="491682">
                <a:tc>
                  <a:txBody>
                    <a:bodyPr/>
                    <a:lstStyle/>
                    <a:p>
                      <a:r>
                        <a:rPr lang="en-US" sz="1800" b="0" dirty="0" smtClean="0"/>
                        <a:t>Feature Resonance with</a:t>
                      </a:r>
                      <a:r>
                        <a:rPr lang="en-US" sz="1800" b="0" baseline="0" dirty="0" smtClean="0"/>
                        <a:t> all intensity</a:t>
                      </a:r>
                      <a:endParaRPr lang="en-US" sz="1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dirty="0" smtClean="0"/>
                        <a:t>Use</a:t>
                      </a:r>
                      <a:r>
                        <a:rPr lang="en-US" sz="1800" b="0" baseline="0" dirty="0" smtClean="0"/>
                        <a:t> all intensity values as input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078799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GA - Genetic Algorithms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How to use?</a:t>
            </a:r>
          </a:p>
          <a:p>
            <a:pPr lvl="1"/>
            <a:r>
              <a:rPr lang="en-US" dirty="0" smtClean="0"/>
              <a:t>Development of Fitness Function</a:t>
            </a:r>
          </a:p>
          <a:p>
            <a:pPr lvl="1"/>
            <a:r>
              <a:rPr lang="en-US" dirty="0" smtClean="0"/>
              <a:t>Setup</a:t>
            </a:r>
          </a:p>
          <a:p>
            <a:pPr lvl="1"/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spcBef>
                <a:spcPts val="0"/>
              </a:spcBef>
              <a:buNone/>
            </a:pPr>
            <a:fld id="{00000000-1234-1234-1234-123412341234}" type="slidenum">
              <a:rPr lang="en" smtClean="0"/>
              <a:t>22</a:t>
            </a:fld>
            <a:r>
              <a:rPr lang="en" dirty="0" smtClean="0"/>
              <a:t>/</a:t>
            </a:r>
            <a:r>
              <a:rPr lang="en-US" dirty="0" smtClean="0"/>
              <a:t>37</a:t>
            </a:r>
            <a:endParaRPr lang="en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0460049"/>
              </p:ext>
            </p:extLst>
          </p:nvPr>
        </p:nvGraphicFramePr>
        <p:xfrm>
          <a:off x="628072" y="3913909"/>
          <a:ext cx="8058728" cy="1615440"/>
        </p:xfrm>
        <a:graphic>
          <a:graphicData uri="http://schemas.openxmlformats.org/drawingml/2006/table">
            <a:tbl>
              <a:tblPr firstRow="1" bandRow="1">
                <a:tableStyleId>{22F0721F-08A2-4DAB-8A2F-E9D09D0CF68C}</a:tableStyleId>
              </a:tblPr>
              <a:tblGrid>
                <a:gridCol w="4029364"/>
                <a:gridCol w="402936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000" b="1" dirty="0" smtClean="0">
                          <a:solidFill>
                            <a:srgbClr val="008000"/>
                          </a:solidFill>
                        </a:rPr>
                        <a:t>Pros</a:t>
                      </a:r>
                      <a:r>
                        <a:rPr lang="en-US" sz="3000" b="1" baseline="0" dirty="0" smtClean="0">
                          <a:solidFill>
                            <a:srgbClr val="008000"/>
                          </a:solidFill>
                        </a:rPr>
                        <a:t> </a:t>
                      </a:r>
                      <a:endParaRPr lang="en-US" sz="3000" b="1" dirty="0">
                        <a:solidFill>
                          <a:srgbClr val="008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000" b="1" dirty="0" smtClean="0">
                          <a:solidFill>
                            <a:srgbClr val="FF0000"/>
                          </a:solidFill>
                        </a:rPr>
                        <a:t>Cons</a:t>
                      </a:r>
                      <a:endParaRPr lang="en-US" sz="3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sz="1800" dirty="0" smtClean="0">
                          <a:solidFill>
                            <a:srgbClr val="008000"/>
                          </a:solidFill>
                        </a:rPr>
                        <a:t>Easy to implement</a:t>
                      </a:r>
                    </a:p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sz="1800" dirty="0" smtClean="0">
                          <a:solidFill>
                            <a:srgbClr val="008000"/>
                          </a:solidFill>
                        </a:rPr>
                        <a:t>Give simple programmatic</a:t>
                      </a:r>
                      <a:r>
                        <a:rPr lang="en-US" sz="1800" baseline="0" dirty="0" smtClean="0">
                          <a:solidFill>
                            <a:srgbClr val="008000"/>
                          </a:solidFill>
                        </a:rPr>
                        <a:t> way to resolve complex problems</a:t>
                      </a:r>
                      <a:endParaRPr lang="en-US" sz="1800" dirty="0">
                        <a:solidFill>
                          <a:srgbClr val="008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1" indent="-285750">
                        <a:buFont typeface="Arial"/>
                        <a:buChar char="•"/>
                      </a:pPr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Bad development of Fitness</a:t>
                      </a:r>
                    </a:p>
                    <a:p>
                      <a:pPr marL="285750" lvl="1" indent="-285750">
                        <a:buFont typeface="Arial"/>
                        <a:buChar char="•"/>
                      </a:pPr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Bad Setup</a:t>
                      </a:r>
                    </a:p>
                    <a:p>
                      <a:pPr lvl="1"/>
                      <a:endParaRPr lang="en-US" dirty="0" smtClean="0">
                        <a:solidFill>
                          <a:srgbClr val="FF0000"/>
                        </a:solidFill>
                      </a:endParaRPr>
                    </a:p>
                    <a:p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192915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Automatic Feature Extraction With GA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Best Correlation Driven Feature Extraction.</a:t>
            </a:r>
          </a:p>
          <a:p>
            <a:pPr lvl="1"/>
            <a:r>
              <a:rPr lang="en-US" dirty="0"/>
              <a:t>Mark A. </a:t>
            </a:r>
            <a:r>
              <a:rPr lang="en-US" dirty="0" smtClean="0"/>
              <a:t>Hall - Correlation Based Feature extraction for machine learning </a:t>
            </a:r>
            <a:r>
              <a:rPr lang="en-US" sz="1000" dirty="0" smtClean="0"/>
              <a:t>[15]</a:t>
            </a:r>
          </a:p>
          <a:p>
            <a:r>
              <a:rPr lang="en-US" dirty="0" smtClean="0"/>
              <a:t>Over fitting</a:t>
            </a:r>
          </a:p>
          <a:p>
            <a:r>
              <a:rPr lang="en-US" dirty="0" smtClean="0"/>
              <a:t>Cross Validation</a:t>
            </a:r>
          </a:p>
          <a:p>
            <a:pPr lvl="1"/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spcBef>
                <a:spcPts val="0"/>
              </a:spcBef>
              <a:buNone/>
            </a:pPr>
            <a:fld id="{00000000-1234-1234-1234-123412341234}" type="slidenum">
              <a:rPr lang="en" smtClean="0"/>
              <a:t>23</a:t>
            </a:fld>
            <a:r>
              <a:rPr lang="en" dirty="0" smtClean="0"/>
              <a:t>/</a:t>
            </a:r>
            <a:r>
              <a:rPr lang="en-US" dirty="0" smtClean="0"/>
              <a:t>37</a:t>
            </a:r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258540370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Cross Validation Performance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spcBef>
                <a:spcPts val="0"/>
              </a:spcBef>
              <a:buNone/>
            </a:pPr>
            <a:fld id="{00000000-1234-1234-1234-123412341234}" type="slidenum">
              <a:rPr lang="en" smtClean="0"/>
              <a:t>24</a:t>
            </a:fld>
            <a:r>
              <a:rPr lang="en" dirty="0" smtClean="0"/>
              <a:t>/</a:t>
            </a:r>
            <a:r>
              <a:rPr lang="en-US" dirty="0" smtClean="0"/>
              <a:t>37</a:t>
            </a:r>
            <a:endParaRPr lang="en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825" y="1796836"/>
            <a:ext cx="7112165" cy="5321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00441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orrelation Spectrum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353" y="2730500"/>
            <a:ext cx="7281642" cy="381780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Best Peaks Selection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Correlation </a:t>
            </a:r>
            <a:r>
              <a:rPr lang="en-US" dirty="0" smtClean="0"/>
              <a:t>approach</a:t>
            </a:r>
          </a:p>
          <a:p>
            <a:r>
              <a:rPr lang="en-US" dirty="0" smtClean="0"/>
              <a:t> Probability Approach</a:t>
            </a:r>
          </a:p>
          <a:p>
            <a:endParaRPr lang="en-US" dirty="0"/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spcBef>
                <a:spcPts val="0"/>
              </a:spcBef>
              <a:buNone/>
            </a:pPr>
            <a:fld id="{00000000-1234-1234-1234-123412341234}" type="slidenum">
              <a:rPr lang="en" smtClean="0"/>
              <a:t>25</a:t>
            </a:fld>
            <a:r>
              <a:rPr lang="en" dirty="0" smtClean="0"/>
              <a:t>/</a:t>
            </a:r>
            <a:r>
              <a:rPr lang="en-US" dirty="0" smtClean="0"/>
              <a:t>37</a:t>
            </a:r>
            <a:endParaRPr lang="en" dirty="0"/>
          </a:p>
        </p:txBody>
      </p:sp>
      <p:pic>
        <p:nvPicPr>
          <p:cNvPr id="5" name="Picture 4" descr="Diferencial Probability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587" y="5698778"/>
            <a:ext cx="7173968" cy="1230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31835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Best Peaks Selection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spcBef>
                <a:spcPts val="0"/>
              </a:spcBef>
              <a:buNone/>
            </a:pPr>
            <a:fld id="{00000000-1234-1234-1234-123412341234}" type="slidenum">
              <a:rPr lang="en" smtClean="0"/>
              <a:t>26</a:t>
            </a:fld>
            <a:r>
              <a:rPr lang="en" dirty="0" smtClean="0"/>
              <a:t>/</a:t>
            </a:r>
            <a:r>
              <a:rPr lang="en-US" dirty="0" smtClean="0"/>
              <a:t>37</a:t>
            </a:r>
            <a:endParaRPr lang="en" dirty="0"/>
          </a:p>
        </p:txBody>
      </p:sp>
      <p:pic>
        <p:nvPicPr>
          <p:cNvPr id="5" name="Shape 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2683" y="1787055"/>
            <a:ext cx="6756503" cy="491066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1689167" y="6402275"/>
            <a:ext cx="59224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Figure: three different E. Coli sub-species Barcode Spectrum  ( Author 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367593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Watch Points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spcBef>
                <a:spcPts val="0"/>
              </a:spcBef>
              <a:buNone/>
            </a:pPr>
            <a:fld id="{00000000-1234-1234-1234-123412341234}" type="slidenum">
              <a:rPr lang="en" smtClean="0"/>
              <a:t>27</a:t>
            </a:fld>
            <a:r>
              <a:rPr lang="en" dirty="0" smtClean="0"/>
              <a:t>/</a:t>
            </a:r>
            <a:r>
              <a:rPr lang="en-US" dirty="0" smtClean="0"/>
              <a:t>37</a:t>
            </a:r>
            <a:endParaRPr lang="en" dirty="0"/>
          </a:p>
        </p:txBody>
      </p:sp>
      <p:pic>
        <p:nvPicPr>
          <p:cNvPr id="5" name="Picture 4" descr="WatchPoints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08" y="1873220"/>
            <a:ext cx="8725523" cy="4574841"/>
          </a:xfrm>
          <a:prstGeom prst="rect">
            <a:avLst/>
          </a:prstGeom>
        </p:spPr>
      </p:pic>
      <p:cxnSp>
        <p:nvCxnSpPr>
          <p:cNvPr id="7" name="Straight Arrow Connector 6"/>
          <p:cNvCxnSpPr/>
          <p:nvPr/>
        </p:nvCxnSpPr>
        <p:spPr>
          <a:xfrm>
            <a:off x="5227785" y="5585032"/>
            <a:ext cx="369890" cy="29589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5227785" y="3316498"/>
            <a:ext cx="369890" cy="34521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110668" y="6226139"/>
            <a:ext cx="75713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Figure: Watch points reveal lacking information between two set of samples on peak neighbor </a:t>
            </a:r>
            <a:br>
              <a:rPr lang="en-US" dirty="0" smtClean="0"/>
            </a:br>
            <a:r>
              <a:rPr lang="en-US" dirty="0" smtClean="0"/>
              <a:t>analysis (Author)</a:t>
            </a:r>
            <a:endParaRPr lang="en-US" dirty="0"/>
          </a:p>
        </p:txBody>
      </p:sp>
      <p:sp>
        <p:nvSpPr>
          <p:cNvPr id="21" name="Oval 20"/>
          <p:cNvSpPr/>
          <p:nvPr/>
        </p:nvSpPr>
        <p:spPr>
          <a:xfrm>
            <a:off x="481263" y="2081827"/>
            <a:ext cx="385255" cy="385255"/>
          </a:xfrm>
          <a:prstGeom prst="ellipse">
            <a:avLst/>
          </a:prstGeom>
          <a:solidFill>
            <a:schemeClr val="accent6">
              <a:lumMod val="10000"/>
              <a:lumOff val="90000"/>
            </a:scheme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22" name="Oval 21"/>
          <p:cNvSpPr/>
          <p:nvPr/>
        </p:nvSpPr>
        <p:spPr>
          <a:xfrm>
            <a:off x="545918" y="4302200"/>
            <a:ext cx="385255" cy="385255"/>
          </a:xfrm>
          <a:prstGeom prst="ellipse">
            <a:avLst/>
          </a:prstGeom>
          <a:solidFill>
            <a:schemeClr val="accent6">
              <a:lumMod val="10000"/>
              <a:lumOff val="90000"/>
            </a:scheme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</a:rPr>
              <a:t>2</a:t>
            </a: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10" name="Picture 9" descr="WatchPoints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322" t="5692" r="30622" b="56359"/>
          <a:stretch/>
        </p:blipFill>
        <p:spPr>
          <a:xfrm>
            <a:off x="2378365" y="1859975"/>
            <a:ext cx="2366818" cy="4682922"/>
          </a:xfrm>
          <a:prstGeom prst="rect">
            <a:avLst/>
          </a:prstGeom>
          <a:ln>
            <a:solidFill>
              <a:srgbClr val="7E5554"/>
            </a:solidFill>
          </a:ln>
        </p:spPr>
      </p:pic>
      <p:pic>
        <p:nvPicPr>
          <p:cNvPr id="13" name="Picture 12" descr="WatchPoints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960" t="53771" r="29984" b="8280"/>
          <a:stretch/>
        </p:blipFill>
        <p:spPr>
          <a:xfrm>
            <a:off x="6445013" y="1940790"/>
            <a:ext cx="2366818" cy="4682922"/>
          </a:xfrm>
          <a:prstGeom prst="rect">
            <a:avLst/>
          </a:prstGeom>
          <a:ln>
            <a:solidFill>
              <a:srgbClr val="7E5554"/>
            </a:solidFill>
          </a:ln>
        </p:spPr>
      </p:pic>
      <p:cxnSp>
        <p:nvCxnSpPr>
          <p:cNvPr id="6" name="Straight Arrow Connector 5"/>
          <p:cNvCxnSpPr/>
          <p:nvPr/>
        </p:nvCxnSpPr>
        <p:spPr>
          <a:xfrm flipH="1" flipV="1">
            <a:off x="4745183" y="2932545"/>
            <a:ext cx="852492" cy="83127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endCxn id="13" idx="1"/>
          </p:cNvCxnSpPr>
          <p:nvPr/>
        </p:nvCxnSpPr>
        <p:spPr>
          <a:xfrm flipV="1">
            <a:off x="5597675" y="4282251"/>
            <a:ext cx="847338" cy="159867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670230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in_and_pos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5797" y="3049544"/>
            <a:ext cx="4172194" cy="312914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Feature Resonance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 Sum of Sinusoidal Waves.</a:t>
            </a:r>
          </a:p>
          <a:p>
            <a:pPr lvl="1"/>
            <a:r>
              <a:rPr lang="en-US" dirty="0"/>
              <a:t>  </a:t>
            </a:r>
            <a:r>
              <a:rPr lang="en-US" dirty="0" smtClean="0"/>
              <a:t>  Best Peaks Selection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spcBef>
                <a:spcPts val="0"/>
              </a:spcBef>
              <a:buNone/>
            </a:pPr>
            <a:fld id="{00000000-1234-1234-1234-123412341234}" type="slidenum">
              <a:rPr lang="en" smtClean="0"/>
              <a:t>28</a:t>
            </a:fld>
            <a:r>
              <a:rPr lang="en" dirty="0" smtClean="0"/>
              <a:t>/</a:t>
            </a:r>
            <a:r>
              <a:rPr lang="en-US" dirty="0" smtClean="0"/>
              <a:t>37</a:t>
            </a:r>
            <a:endParaRPr lang="en" dirty="0"/>
          </a:p>
        </p:txBody>
      </p:sp>
      <p:sp>
        <p:nvSpPr>
          <p:cNvPr id="6" name="TextBox 5"/>
          <p:cNvSpPr txBox="1"/>
          <p:nvPr/>
        </p:nvSpPr>
        <p:spPr>
          <a:xfrm>
            <a:off x="4195797" y="6024800"/>
            <a:ext cx="47152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Figure: Sample sinusoidal waves and positions ( Author )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35626" y="6116126"/>
            <a:ext cx="36969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Figure: Example FR weights from sinusoidal </a:t>
            </a:r>
          </a:p>
          <a:p>
            <a:r>
              <a:rPr lang="en-US" dirty="0" smtClean="0"/>
              <a:t>Functions (Author )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6513" y="3014896"/>
            <a:ext cx="4328490" cy="3238956"/>
          </a:xfrm>
          <a:prstGeom prst="rect">
            <a:avLst/>
          </a:prstGeom>
        </p:spPr>
      </p:pic>
      <p:cxnSp>
        <p:nvCxnSpPr>
          <p:cNvPr id="16" name="Straight Arrow Connector 15"/>
          <p:cNvCxnSpPr/>
          <p:nvPr/>
        </p:nvCxnSpPr>
        <p:spPr>
          <a:xfrm flipH="1" flipV="1">
            <a:off x="704273" y="4514273"/>
            <a:ext cx="4652818" cy="750454"/>
          </a:xfrm>
          <a:prstGeom prst="straightConnector1">
            <a:avLst/>
          </a:prstGeom>
          <a:ln>
            <a:prstDash val="dashDot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 flipV="1">
            <a:off x="877455" y="4121727"/>
            <a:ext cx="4860636" cy="1489364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187286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Ovarian Cancer</a:t>
            </a:r>
          </a:p>
          <a:p>
            <a:pPr lvl="1"/>
            <a:r>
              <a:rPr lang="en-US" dirty="0" smtClean="0"/>
              <a:t>National Cancer Institute (USA)</a:t>
            </a:r>
          </a:p>
          <a:p>
            <a:r>
              <a:rPr lang="en-US" dirty="0" smtClean="0"/>
              <a:t>Prostate Cancer</a:t>
            </a:r>
          </a:p>
          <a:p>
            <a:pPr lvl="1"/>
            <a:r>
              <a:rPr lang="en-US" dirty="0"/>
              <a:t>National Cancer </a:t>
            </a:r>
            <a:r>
              <a:rPr lang="en-US" dirty="0" smtClean="0"/>
              <a:t>Institute (USA)</a:t>
            </a:r>
          </a:p>
          <a:p>
            <a:r>
              <a:rPr lang="en-US" dirty="0" smtClean="0"/>
              <a:t>Microorganisms</a:t>
            </a:r>
          </a:p>
          <a:p>
            <a:pPr lvl="1"/>
            <a:r>
              <a:rPr lang="en-US" dirty="0" smtClean="0"/>
              <a:t>Data Provided by: </a:t>
            </a:r>
            <a:r>
              <a:rPr lang="pt-BR" dirty="0"/>
              <a:t>Departamento de Patologia </a:t>
            </a:r>
            <a:r>
              <a:rPr lang="pt-BR" dirty="0" smtClean="0"/>
              <a:t>Médica, </a:t>
            </a:r>
            <a:r>
              <a:rPr lang="pt-BR" dirty="0"/>
              <a:t>Universidade Federal do </a:t>
            </a:r>
            <a:r>
              <a:rPr lang="pt-BR" dirty="0" smtClean="0"/>
              <a:t>Paraná, Brasil </a:t>
            </a:r>
            <a:endParaRPr lang="en-US" dirty="0" smtClean="0"/>
          </a:p>
          <a:p>
            <a:r>
              <a:rPr lang="en-US" dirty="0" smtClean="0"/>
              <a:t>Library And Software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spcBef>
                <a:spcPts val="0"/>
              </a:spcBef>
              <a:buNone/>
            </a:pPr>
            <a:fld id="{00000000-1234-1234-1234-123412341234}" type="slidenum">
              <a:rPr lang="en" smtClean="0"/>
              <a:t>29</a:t>
            </a:fld>
            <a:r>
              <a:rPr lang="en" dirty="0" smtClean="0"/>
              <a:t>/</a:t>
            </a:r>
            <a:r>
              <a:rPr lang="en-US" dirty="0" smtClean="0"/>
              <a:t>37</a:t>
            </a:r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362138805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Ovarian Cancer Results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spcBef>
                <a:spcPts val="0"/>
              </a:spcBef>
              <a:buNone/>
            </a:pPr>
            <a:fld id="{00000000-1234-1234-1234-123412341234}" type="slidenum">
              <a:rPr lang="en" smtClean="0"/>
              <a:t>30</a:t>
            </a:fld>
            <a:r>
              <a:rPr lang="en" dirty="0" smtClean="0"/>
              <a:t>/</a:t>
            </a:r>
            <a:r>
              <a:rPr lang="en-US" dirty="0" smtClean="0"/>
              <a:t>37</a:t>
            </a:r>
            <a:endParaRPr lang="en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4582802"/>
              </p:ext>
            </p:extLst>
          </p:nvPr>
        </p:nvGraphicFramePr>
        <p:xfrm>
          <a:off x="277120" y="2043558"/>
          <a:ext cx="7693892" cy="2509519"/>
        </p:xfrm>
        <a:graphic>
          <a:graphicData uri="http://schemas.openxmlformats.org/drawingml/2006/table">
            <a:tbl>
              <a:tblPr firstRow="1" bandRow="1">
                <a:tableStyleId>{22F0721F-08A2-4DAB-8A2F-E9D09D0CF68C}</a:tableStyleId>
              </a:tblPr>
              <a:tblGrid>
                <a:gridCol w="3846946"/>
                <a:gridCol w="3846946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Resolution: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From: 360K to 15K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aseline="0" dirty="0" smtClean="0"/>
                        <a:t>Watch Points with Best Peaks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Correlation</a:t>
                      </a:r>
                      <a:r>
                        <a:rPr lang="en-US" baseline="0" dirty="0" smtClean="0"/>
                        <a:t> threshold: 0.3</a:t>
                      </a:r>
                    </a:p>
                    <a:p>
                      <a:r>
                        <a:rPr lang="en-US" baseline="0" dirty="0" smtClean="0"/>
                        <a:t>Cycles: 100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Best Peaks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 smtClean="0"/>
                        <a:t>Correlation threshold: 0.3</a:t>
                      </a:r>
                    </a:p>
                    <a:p>
                      <a:r>
                        <a:rPr lang="en-US" baseline="0" dirty="0" smtClean="0"/>
                        <a:t>Correlation threshold: 0.2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Feature</a:t>
                      </a:r>
                      <a:r>
                        <a:rPr lang="en-US" baseline="0" dirty="0" smtClean="0"/>
                        <a:t> Resonance with Best Peaks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 smtClean="0"/>
                        <a:t>Correlation threshold: 0.3</a:t>
                      </a:r>
                    </a:p>
                    <a:p>
                      <a:r>
                        <a:rPr lang="en-US" baseline="0" dirty="0" smtClean="0"/>
                        <a:t>Cycles: 100</a:t>
                      </a:r>
                    </a:p>
                    <a:p>
                      <a:r>
                        <a:rPr lang="en-US" baseline="0" dirty="0" smtClean="0"/>
                        <a:t>Waves: 20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Feature</a:t>
                      </a:r>
                      <a:r>
                        <a:rPr lang="en-US" baseline="0" dirty="0" smtClean="0"/>
                        <a:t> Resonance with Watch Points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 smtClean="0"/>
                        <a:t>Cycles: 100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7" name="Picture 6" descr="Ovarian Cancer Results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55489"/>
            <a:ext cx="9144000" cy="127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7120" y="4933706"/>
            <a:ext cx="18011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Results Comparison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81472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Prostate Cancer Results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spcBef>
                <a:spcPts val="0"/>
              </a:spcBef>
              <a:buNone/>
            </a:pPr>
            <a:fld id="{00000000-1234-1234-1234-123412341234}" type="slidenum">
              <a:rPr lang="en" smtClean="0"/>
              <a:t>31</a:t>
            </a:fld>
            <a:r>
              <a:rPr lang="en" dirty="0" smtClean="0"/>
              <a:t>/</a:t>
            </a:r>
            <a:r>
              <a:rPr lang="en-US" dirty="0" smtClean="0"/>
              <a:t>37</a:t>
            </a:r>
            <a:endParaRPr lang="en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8452950"/>
              </p:ext>
            </p:extLst>
          </p:nvPr>
        </p:nvGraphicFramePr>
        <p:xfrm>
          <a:off x="457198" y="2366818"/>
          <a:ext cx="7693892" cy="1473199"/>
        </p:xfrm>
        <a:graphic>
          <a:graphicData uri="http://schemas.openxmlformats.org/drawingml/2006/table">
            <a:tbl>
              <a:tblPr firstRow="1" bandRow="1">
                <a:tableStyleId>{22F0721F-08A2-4DAB-8A2F-E9D09D0CF68C}</a:tableStyleId>
              </a:tblPr>
              <a:tblGrid>
                <a:gridCol w="3846946"/>
                <a:gridCol w="3846946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Resolution: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From: 360K to 15K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Feature</a:t>
                      </a:r>
                      <a:r>
                        <a:rPr lang="en-US" baseline="0" dirty="0" smtClean="0"/>
                        <a:t> resonance with All intensity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 smtClean="0"/>
                        <a:t>Cycles: 100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Feature</a:t>
                      </a:r>
                      <a:r>
                        <a:rPr lang="en-US" baseline="0" dirty="0" smtClean="0"/>
                        <a:t> Resonance with Best Peaks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 smtClean="0"/>
                        <a:t>Correlation threshold: 0.19, 0.2, 0.21 and 0.22</a:t>
                      </a:r>
                    </a:p>
                    <a:p>
                      <a:r>
                        <a:rPr lang="en-US" baseline="0" dirty="0" smtClean="0"/>
                        <a:t>Waves: 10</a:t>
                      </a:r>
                    </a:p>
                    <a:p>
                      <a:r>
                        <a:rPr lang="en-US" baseline="0" dirty="0" smtClean="0"/>
                        <a:t>Cycles: 100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9989064"/>
              </p:ext>
            </p:extLst>
          </p:nvPr>
        </p:nvGraphicFramePr>
        <p:xfrm>
          <a:off x="457200" y="5220605"/>
          <a:ext cx="6096000" cy="1112520"/>
        </p:xfrm>
        <a:graphic>
          <a:graphicData uri="http://schemas.openxmlformats.org/drawingml/2006/table">
            <a:tbl>
              <a:tblPr firstRow="1" bandRow="1">
                <a:tableStyleId>{22F0721F-08A2-4DAB-8A2F-E9D09D0CF68C}</a:tableStyleId>
              </a:tblPr>
              <a:tblGrid>
                <a:gridCol w="2032000"/>
                <a:gridCol w="2032000"/>
                <a:gridCol w="2032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Study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Precision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Accuracy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cap="none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  <a:rtl val="0"/>
                        </a:rPr>
                        <a:t>MS-ML Studio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100%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0.9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/>
                        <a:t>Petricoin</a:t>
                      </a:r>
                      <a:r>
                        <a:rPr lang="en-US" dirty="0" smtClean="0"/>
                        <a:t> </a:t>
                      </a:r>
                      <a:r>
                        <a:rPr lang="en-US" i="1" dirty="0" smtClean="0"/>
                        <a:t>et al.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100%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-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73394" y="4779818"/>
            <a:ext cx="18011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Results Comparison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278182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Intact Cell Results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Aeromonas</a:t>
            </a:r>
          </a:p>
          <a:p>
            <a:pPr lvl="1"/>
            <a:r>
              <a:rPr lang="en-US" dirty="0" smtClean="0"/>
              <a:t>A. </a:t>
            </a:r>
            <a:r>
              <a:rPr lang="en-US" dirty="0" err="1" smtClean="0"/>
              <a:t>Hidrophilla</a:t>
            </a:r>
            <a:endParaRPr lang="en-US" dirty="0" smtClean="0"/>
          </a:p>
          <a:p>
            <a:pPr lvl="1"/>
            <a:r>
              <a:rPr lang="en-US" dirty="0" smtClean="0"/>
              <a:t>A. </a:t>
            </a:r>
            <a:r>
              <a:rPr lang="en-US" dirty="0" err="1" smtClean="0"/>
              <a:t>Cavie</a:t>
            </a:r>
            <a:endParaRPr lang="en-US" dirty="0" smtClean="0"/>
          </a:p>
          <a:p>
            <a:pPr lvl="1"/>
            <a:r>
              <a:rPr lang="en-US" dirty="0" smtClean="0"/>
              <a:t>A. </a:t>
            </a:r>
            <a:r>
              <a:rPr lang="en-US" dirty="0" err="1" smtClean="0"/>
              <a:t>Trota</a:t>
            </a:r>
            <a:endParaRPr lang="en-US" dirty="0" smtClean="0"/>
          </a:p>
          <a:p>
            <a:pPr lvl="1"/>
            <a:r>
              <a:rPr lang="en-US" dirty="0" smtClean="0"/>
              <a:t>A. </a:t>
            </a:r>
            <a:r>
              <a:rPr lang="en-US" dirty="0" err="1" smtClean="0"/>
              <a:t>Veroni</a:t>
            </a:r>
            <a:r>
              <a:rPr lang="en-US" dirty="0" smtClean="0"/>
              <a:t> </a:t>
            </a:r>
            <a:r>
              <a:rPr lang="en-US" dirty="0" err="1" smtClean="0"/>
              <a:t>Sobria</a:t>
            </a:r>
            <a:endParaRPr lang="en-US" dirty="0" smtClean="0"/>
          </a:p>
          <a:p>
            <a:r>
              <a:rPr lang="en-US" dirty="0" smtClean="0"/>
              <a:t>Objective Class Against the Others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spcBef>
                <a:spcPts val="0"/>
              </a:spcBef>
              <a:buNone/>
            </a:pPr>
            <a:fld id="{00000000-1234-1234-1234-123412341234}" type="slidenum">
              <a:rPr lang="en" smtClean="0"/>
              <a:t>32</a:t>
            </a:fld>
            <a:r>
              <a:rPr lang="en" dirty="0" smtClean="0"/>
              <a:t>/</a:t>
            </a:r>
            <a:r>
              <a:rPr lang="en-US" dirty="0" smtClean="0"/>
              <a:t>37</a:t>
            </a:r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384429914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Intact Cell Results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spcBef>
                <a:spcPts val="0"/>
              </a:spcBef>
              <a:buNone/>
            </a:pPr>
            <a:fld id="{00000000-1234-1234-1234-123412341234}" type="slidenum">
              <a:rPr lang="en" smtClean="0"/>
              <a:t>33</a:t>
            </a:fld>
            <a:r>
              <a:rPr lang="en" dirty="0" smtClean="0"/>
              <a:t>/</a:t>
            </a:r>
            <a:r>
              <a:rPr lang="en-US" dirty="0" smtClean="0"/>
              <a:t>37</a:t>
            </a:r>
            <a:endParaRPr lang="en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5584310"/>
              </p:ext>
            </p:extLst>
          </p:nvPr>
        </p:nvGraphicFramePr>
        <p:xfrm>
          <a:off x="457198" y="2366818"/>
          <a:ext cx="7693892" cy="2926079"/>
        </p:xfrm>
        <a:graphic>
          <a:graphicData uri="http://schemas.openxmlformats.org/drawingml/2006/table">
            <a:tbl>
              <a:tblPr firstRow="1" bandRow="1">
                <a:tableStyleId>{22F0721F-08A2-4DAB-8A2F-E9D09D0CF68C}</a:tableStyleId>
              </a:tblPr>
              <a:tblGrid>
                <a:gridCol w="3846946"/>
                <a:gridCol w="3846946"/>
              </a:tblGrid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baseline="0" dirty="0" smtClean="0"/>
                        <a:t>A. </a:t>
                      </a:r>
                      <a:r>
                        <a:rPr lang="en-US" baseline="0" dirty="0" err="1" smtClean="0"/>
                        <a:t>Hidrophilla</a:t>
                      </a:r>
                      <a:endParaRPr lang="en-US" baseline="0" dirty="0" smtClean="0"/>
                    </a:p>
                    <a:p>
                      <a:pPr marL="0" indent="0">
                        <a:buNone/>
                      </a:pPr>
                      <a:r>
                        <a:rPr lang="en-US" dirty="0" smtClean="0"/>
                        <a:t>Feature</a:t>
                      </a:r>
                      <a:r>
                        <a:rPr lang="en-US" baseline="0" dirty="0" smtClean="0"/>
                        <a:t> Resonance with Best Peaks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 smtClean="0"/>
                        <a:t>Correlation threshold: 0.12, 0.15 and 0.16</a:t>
                      </a:r>
                    </a:p>
                    <a:p>
                      <a:r>
                        <a:rPr lang="en-US" baseline="0" dirty="0" smtClean="0"/>
                        <a:t>Waves: 10</a:t>
                      </a:r>
                    </a:p>
                    <a:p>
                      <a:r>
                        <a:rPr lang="en-US" baseline="0" dirty="0" smtClean="0"/>
                        <a:t>Cycles: 10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baseline="0" dirty="0" smtClean="0"/>
                        <a:t>A. </a:t>
                      </a:r>
                      <a:r>
                        <a:rPr lang="en-US" baseline="0" dirty="0" err="1" smtClean="0"/>
                        <a:t>Cavie</a:t>
                      </a:r>
                      <a:endParaRPr lang="en-US" baseline="0" dirty="0" smtClean="0"/>
                    </a:p>
                    <a:p>
                      <a:pPr marL="0" indent="0">
                        <a:buNone/>
                      </a:pPr>
                      <a:r>
                        <a:rPr lang="en-US" dirty="0" smtClean="0"/>
                        <a:t>Feature</a:t>
                      </a:r>
                      <a:r>
                        <a:rPr lang="en-US" baseline="0" dirty="0" smtClean="0"/>
                        <a:t> Resonance with Best Peaks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 smtClean="0"/>
                        <a:t>Correlation threshold: 0.12, 0.16 and 0.20</a:t>
                      </a:r>
                    </a:p>
                    <a:p>
                      <a:r>
                        <a:rPr lang="en-US" baseline="0" dirty="0" smtClean="0"/>
                        <a:t>Waves: 10</a:t>
                      </a:r>
                    </a:p>
                    <a:p>
                      <a:r>
                        <a:rPr lang="en-US" baseline="0" dirty="0" smtClean="0"/>
                        <a:t>Cycles: 10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baseline="0" dirty="0" smtClean="0"/>
                        <a:t>A. </a:t>
                      </a:r>
                      <a:r>
                        <a:rPr lang="en-US" baseline="0" dirty="0" err="1" smtClean="0"/>
                        <a:t>Trota</a:t>
                      </a:r>
                      <a:endParaRPr lang="en-US" baseline="0" dirty="0" smtClean="0"/>
                    </a:p>
                    <a:p>
                      <a:pPr marL="0" indent="0">
                        <a:buNone/>
                      </a:pPr>
                      <a:r>
                        <a:rPr lang="en-US" dirty="0" smtClean="0"/>
                        <a:t>Feature</a:t>
                      </a:r>
                      <a:r>
                        <a:rPr lang="en-US" baseline="0" dirty="0" smtClean="0"/>
                        <a:t> Resonance with Best Peaks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 smtClean="0"/>
                        <a:t>Correlation threshold: 0.12, 0.20 and 0.40</a:t>
                      </a:r>
                    </a:p>
                    <a:p>
                      <a:r>
                        <a:rPr lang="en-US" baseline="0" dirty="0" smtClean="0"/>
                        <a:t>Waves: 10</a:t>
                      </a:r>
                    </a:p>
                    <a:p>
                      <a:r>
                        <a:rPr lang="en-US" baseline="0" dirty="0" smtClean="0"/>
                        <a:t>Cycles: 10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baseline="0" dirty="0" smtClean="0"/>
                        <a:t>A. </a:t>
                      </a:r>
                      <a:r>
                        <a:rPr lang="en-US" baseline="0" dirty="0" err="1" smtClean="0"/>
                        <a:t>Veroni</a:t>
                      </a:r>
                      <a:r>
                        <a:rPr lang="en-US" baseline="0" dirty="0" smtClean="0"/>
                        <a:t>/</a:t>
                      </a:r>
                      <a:r>
                        <a:rPr lang="en-US" baseline="0" dirty="0" err="1" smtClean="0"/>
                        <a:t>Sobria</a:t>
                      </a:r>
                      <a:endParaRPr lang="en-US" baseline="0" dirty="0" smtClean="0"/>
                    </a:p>
                    <a:p>
                      <a:pPr marL="0" indent="0">
                        <a:buNone/>
                      </a:pPr>
                      <a:r>
                        <a:rPr lang="en-US" dirty="0" smtClean="0"/>
                        <a:t>Feature</a:t>
                      </a:r>
                      <a:r>
                        <a:rPr lang="en-US" baseline="0" dirty="0" smtClean="0"/>
                        <a:t> Resonance with Best Peaks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 smtClean="0"/>
                        <a:t>Correlation threshold: 0.12, 0.16, 0.2 and 0.25</a:t>
                      </a:r>
                    </a:p>
                    <a:p>
                      <a:r>
                        <a:rPr lang="en-US" baseline="0" dirty="0" smtClean="0"/>
                        <a:t>Waves: 10</a:t>
                      </a:r>
                    </a:p>
                    <a:p>
                      <a:r>
                        <a:rPr lang="en-US" baseline="0" dirty="0" smtClean="0"/>
                        <a:t>Cycles: 10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871246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Intact Cell Results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spcBef>
                <a:spcPts val="0"/>
              </a:spcBef>
              <a:buNone/>
            </a:pPr>
            <a:fld id="{00000000-1234-1234-1234-123412341234}" type="slidenum">
              <a:rPr lang="en" smtClean="0"/>
              <a:t>34</a:t>
            </a:fld>
            <a:r>
              <a:rPr lang="en" dirty="0" smtClean="0"/>
              <a:t>/</a:t>
            </a:r>
            <a:r>
              <a:rPr lang="en-US" dirty="0" smtClean="0"/>
              <a:t>37</a:t>
            </a:r>
            <a:endParaRPr lang="en" dirty="0"/>
          </a:p>
        </p:txBody>
      </p:sp>
      <p:pic>
        <p:nvPicPr>
          <p:cNvPr id="5" name="Picture 4" descr="PCAIntactCellComparison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1000" y="1796836"/>
            <a:ext cx="5622636" cy="42338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46908" y="6047465"/>
            <a:ext cx="72695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Experiments reach classification scores from 90% to 100% of precision in all experiments.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073705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Library And Software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spcBef>
                <a:spcPts val="0"/>
              </a:spcBef>
              <a:buNone/>
            </a:pPr>
            <a:fld id="{00000000-1234-1234-1234-123412341234}" type="slidenum">
              <a:rPr lang="en" smtClean="0"/>
              <a:t>35</a:t>
            </a:fld>
            <a:r>
              <a:rPr lang="en" dirty="0" smtClean="0"/>
              <a:t>/</a:t>
            </a:r>
            <a:r>
              <a:rPr lang="en-US" dirty="0" smtClean="0"/>
              <a:t>37</a:t>
            </a:r>
            <a:endParaRPr lang="en" dirty="0"/>
          </a:p>
        </p:txBody>
      </p:sp>
      <p:pic>
        <p:nvPicPr>
          <p:cNvPr id="5" name="Picture 4" descr="Full_GUI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30" y="844778"/>
            <a:ext cx="9196865" cy="5280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47237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 and Future Work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Generic Cases</a:t>
            </a:r>
          </a:p>
          <a:p>
            <a:r>
              <a:rPr lang="en-US" dirty="0" smtClean="0"/>
              <a:t>Retest all data with last program version</a:t>
            </a:r>
          </a:p>
          <a:p>
            <a:r>
              <a:rPr lang="en-US" dirty="0" smtClean="0"/>
              <a:t>Create </a:t>
            </a:r>
            <a:r>
              <a:rPr lang="en-US" dirty="0"/>
              <a:t>import </a:t>
            </a:r>
            <a:r>
              <a:rPr lang="en-US" dirty="0" smtClean="0"/>
              <a:t>procedures to handle other data format.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spcBef>
                <a:spcPts val="0"/>
              </a:spcBef>
              <a:buNone/>
            </a:pPr>
            <a:fld id="{00000000-1234-1234-1234-123412341234}" type="slidenum">
              <a:rPr lang="en" smtClean="0"/>
              <a:t>36</a:t>
            </a:fld>
            <a:r>
              <a:rPr lang="en" dirty="0" smtClean="0"/>
              <a:t>/</a:t>
            </a:r>
            <a:r>
              <a:rPr lang="en-US" dirty="0" smtClean="0"/>
              <a:t>37</a:t>
            </a:r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167908352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Shape 20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522199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"/>
              <a:t>Agradecimentos</a:t>
            </a:r>
          </a:p>
        </p:txBody>
      </p:sp>
      <p:sp>
        <p:nvSpPr>
          <p:cNvPr id="204" name="Shape 204"/>
          <p:cNvSpPr txBox="1">
            <a:spLocks noGrp="1"/>
          </p:cNvSpPr>
          <p:nvPr>
            <p:ph type="body" idx="1"/>
          </p:nvPr>
        </p:nvSpPr>
        <p:spPr>
          <a:xfrm>
            <a:off x="457200" y="1947332"/>
            <a:ext cx="8229600" cy="4620299"/>
          </a:xfrm>
          <a:prstGeom prst="rect">
            <a:avLst/>
          </a:prstGeom>
        </p:spPr>
        <p:txBody>
          <a:bodyPr lIns="91425" tIns="91425" rIns="91425" bIns="91425" anchor="t" anchorCtr="0">
            <a:normAutofit lnSpcReduction="10000"/>
          </a:bodyPr>
          <a:lstStyle/>
          <a:p>
            <a:pPr marL="457200" lvl="0" indent="-419100" rtl="0">
              <a:spcBef>
                <a:spcPts val="0"/>
              </a:spcBef>
              <a:buClr>
                <a:srgbClr val="191919"/>
              </a:buClr>
              <a:buSzPct val="100000"/>
              <a:buFont typeface="Arial"/>
              <a:buChar char="●"/>
            </a:pPr>
            <a:r>
              <a:rPr lang="en" dirty="0">
                <a:solidFill>
                  <a:srgbClr val="191919"/>
                </a:solidFill>
              </a:rPr>
              <a:t>PPG Bioinformática </a:t>
            </a:r>
            <a:r>
              <a:rPr lang="en" dirty="0" smtClean="0">
                <a:solidFill>
                  <a:srgbClr val="191919"/>
                </a:solidFill>
              </a:rPr>
              <a:t>UFPR</a:t>
            </a:r>
          </a:p>
          <a:p>
            <a:pPr marL="457200" lvl="0" indent="-419100" rtl="0">
              <a:spcBef>
                <a:spcPts val="0"/>
              </a:spcBef>
              <a:buClr>
                <a:srgbClr val="191919"/>
              </a:buClr>
              <a:buSzPct val="100000"/>
              <a:buFont typeface="Arial"/>
              <a:buChar char="●"/>
            </a:pPr>
            <a:r>
              <a:rPr lang="en" dirty="0" smtClean="0">
                <a:solidFill>
                  <a:srgbClr val="191919"/>
                </a:solidFill>
              </a:rPr>
              <a:t>Casadinho/PROCAD</a:t>
            </a:r>
            <a:endParaRPr lang="en" dirty="0">
              <a:solidFill>
                <a:srgbClr val="191919"/>
              </a:solidFill>
            </a:endParaRPr>
          </a:p>
          <a:p>
            <a:pPr marL="457200" lvl="0" indent="-419100" rtl="0">
              <a:spcBef>
                <a:spcPts val="0"/>
              </a:spcBef>
              <a:buClr>
                <a:srgbClr val="191919"/>
              </a:buClr>
              <a:buSzPct val="100000"/>
              <a:buFont typeface="Arial"/>
              <a:buChar char="●"/>
            </a:pPr>
            <a:r>
              <a:rPr lang="en" dirty="0">
                <a:solidFill>
                  <a:srgbClr val="191919"/>
                </a:solidFill>
              </a:rPr>
              <a:t>Professores:</a:t>
            </a:r>
          </a:p>
          <a:p>
            <a:pPr marL="914400" lvl="1" indent="-381000" rtl="0">
              <a:spcBef>
                <a:spcPts val="0"/>
              </a:spcBef>
              <a:buClr>
                <a:srgbClr val="191919"/>
              </a:buClr>
              <a:buSzPct val="80000"/>
              <a:buFont typeface="Arial"/>
              <a:buChar char="○"/>
            </a:pPr>
            <a:r>
              <a:rPr lang="en" dirty="0">
                <a:solidFill>
                  <a:srgbClr val="191919"/>
                </a:solidFill>
              </a:rPr>
              <a:t>Dr. Roberto T. Raittz.</a:t>
            </a:r>
          </a:p>
          <a:p>
            <a:pPr marL="914400" lvl="1" indent="-381000" rtl="0">
              <a:spcBef>
                <a:spcPts val="0"/>
              </a:spcBef>
              <a:buClr>
                <a:srgbClr val="191919"/>
              </a:buClr>
              <a:buSzPct val="80000"/>
              <a:buFont typeface="Arial"/>
              <a:buChar char="○"/>
            </a:pPr>
            <a:r>
              <a:rPr lang="en" dirty="0" smtClean="0">
                <a:solidFill>
                  <a:srgbClr val="191919"/>
                </a:solidFill>
              </a:rPr>
              <a:t>Dr. Luciano </a:t>
            </a:r>
            <a:r>
              <a:rPr lang="en" dirty="0">
                <a:solidFill>
                  <a:srgbClr val="191919"/>
                </a:solidFill>
              </a:rPr>
              <a:t>Huergo</a:t>
            </a:r>
            <a:r>
              <a:rPr lang="en" dirty="0" smtClean="0">
                <a:solidFill>
                  <a:srgbClr val="191919"/>
                </a:solidFill>
              </a:rPr>
              <a:t>.</a:t>
            </a:r>
          </a:p>
          <a:p>
            <a:pPr marL="914400" lvl="1" indent="-381000">
              <a:spcBef>
                <a:spcPts val="0"/>
              </a:spcBef>
              <a:buClr>
                <a:srgbClr val="191919"/>
              </a:buClr>
              <a:buSzPct val="80000"/>
              <a:buFont typeface="Arial"/>
              <a:buChar char="○"/>
            </a:pPr>
            <a:r>
              <a:rPr lang="en-US" dirty="0" err="1" smtClean="0"/>
              <a:t>Cyntia</a:t>
            </a:r>
            <a:r>
              <a:rPr lang="en-US" dirty="0" smtClean="0"/>
              <a:t> </a:t>
            </a:r>
            <a:r>
              <a:rPr lang="en-US" dirty="0"/>
              <a:t>M. T. </a:t>
            </a:r>
            <a:r>
              <a:rPr lang="en-US" dirty="0" err="1" smtClean="0"/>
              <a:t>Fadel</a:t>
            </a:r>
            <a:r>
              <a:rPr lang="en-US" dirty="0" smtClean="0"/>
              <a:t> </a:t>
            </a:r>
            <a:r>
              <a:rPr lang="en-US" dirty="0" err="1" smtClean="0"/>
              <a:t>Picheth</a:t>
            </a:r>
            <a:endParaRPr lang="en" dirty="0">
              <a:solidFill>
                <a:srgbClr val="191919"/>
              </a:solidFill>
            </a:endParaRPr>
          </a:p>
          <a:p>
            <a:pPr marL="457200" lvl="0" indent="-419100" rtl="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Char char="●"/>
            </a:pPr>
            <a:r>
              <a:rPr lang="en" dirty="0" smtClean="0"/>
              <a:t>Capes</a:t>
            </a:r>
          </a:p>
          <a:p>
            <a:pPr marL="457200" lvl="0" indent="-419100" rtl="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Char char="●"/>
            </a:pPr>
            <a:r>
              <a:rPr lang="en" dirty="0" smtClean="0">
                <a:solidFill>
                  <a:srgbClr val="191919"/>
                </a:solidFill>
              </a:rPr>
              <a:t>Colegas</a:t>
            </a:r>
          </a:p>
          <a:p>
            <a:pPr marL="857250" lvl="1" indent="-419100">
              <a:spcBef>
                <a:spcPts val="0"/>
              </a:spcBef>
              <a:buClr>
                <a:srgbClr val="191919"/>
              </a:buClr>
              <a:buSzPct val="100000"/>
              <a:buFont typeface="Arial"/>
              <a:buChar char="●"/>
            </a:pPr>
            <a:r>
              <a:rPr lang="en" dirty="0" smtClean="0">
                <a:solidFill>
                  <a:srgbClr val="191919"/>
                </a:solidFill>
              </a:rPr>
              <a:t>Cibelle Dalagassa </a:t>
            </a:r>
          </a:p>
          <a:p>
            <a:pPr marL="857250" lvl="1" indent="-419100">
              <a:spcBef>
                <a:spcPts val="0"/>
              </a:spcBef>
              <a:buClr>
                <a:srgbClr val="191919"/>
              </a:buClr>
              <a:buSzPct val="100000"/>
              <a:buFont typeface="Arial"/>
              <a:buChar char="●"/>
            </a:pPr>
            <a:r>
              <a:rPr lang="en" dirty="0" smtClean="0">
                <a:solidFill>
                  <a:srgbClr val="191919"/>
                </a:solidFill>
              </a:rPr>
              <a:t>Aniele Leão</a:t>
            </a:r>
          </a:p>
          <a:p>
            <a:pPr marL="857250" lvl="1" indent="-419100">
              <a:spcBef>
                <a:spcPts val="0"/>
              </a:spcBef>
              <a:buClr>
                <a:srgbClr val="191919"/>
              </a:buClr>
              <a:buSzPct val="100000"/>
              <a:buFont typeface="Arial"/>
              <a:buChar char="●"/>
            </a:pPr>
            <a:r>
              <a:rPr lang="en" dirty="0" smtClean="0">
                <a:solidFill>
                  <a:srgbClr val="191919"/>
                </a:solidFill>
              </a:rPr>
              <a:t>Flavia Costa</a:t>
            </a:r>
            <a:endParaRPr lang="en" dirty="0">
              <a:solidFill>
                <a:srgbClr val="191919"/>
              </a:solidFill>
            </a:endParaRPr>
          </a:p>
        </p:txBody>
      </p:sp>
      <p:sp>
        <p:nvSpPr>
          <p:cNvPr id="205" name="Shape 205"/>
          <p:cNvSpPr txBox="1">
            <a:spLocks noGrp="1"/>
          </p:cNvSpPr>
          <p:nvPr>
            <p:ph type="sldNum" idx="12"/>
          </p:nvPr>
        </p:nvSpPr>
        <p:spPr>
          <a:xfrm>
            <a:off x="8240995" y="6333125"/>
            <a:ext cx="864599" cy="524999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fld id="{00000000-1234-1234-1234-123412341234}" type="slidenum">
              <a:rPr lang="en" smtClean="0"/>
              <a:t>37</a:t>
            </a:fld>
            <a:r>
              <a:rPr lang="en" dirty="0" smtClean="0"/>
              <a:t>/</a:t>
            </a:r>
            <a:r>
              <a:rPr lang="en-US" dirty="0" smtClean="0"/>
              <a:t>37</a:t>
            </a:r>
            <a:endParaRPr lang="en" dirty="0"/>
          </a:p>
        </p:txBody>
      </p:sp>
    </p:spTree>
  </p:cSld>
  <p:clrMapOvr>
    <a:masterClrMapping/>
  </p:clrMapOvr>
  <p:transition xmlns:p14="http://schemas.microsoft.com/office/powerpoint/2010/main" spd="slow">
    <p:cut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Shape 210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522199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"/>
              <a:t>References</a:t>
            </a:r>
          </a:p>
        </p:txBody>
      </p:sp>
      <p:sp>
        <p:nvSpPr>
          <p:cNvPr id="211" name="Shape 211"/>
          <p:cNvSpPr txBox="1">
            <a:spLocks noGrp="1"/>
          </p:cNvSpPr>
          <p:nvPr>
            <p:ph type="body" idx="1"/>
          </p:nvPr>
        </p:nvSpPr>
        <p:spPr>
          <a:xfrm>
            <a:off x="457200" y="1947332"/>
            <a:ext cx="8229600" cy="46202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342900" rtl="0">
              <a:lnSpc>
                <a:spcPct val="115000"/>
              </a:lnSpc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AutoNum type="arabicPeriod"/>
            </a:pPr>
            <a:r>
              <a:rPr lang="en" sz="1800" dirty="0"/>
              <a:t>Krishnamurthy, T., &amp; Ross, P. L. (1996). Rapid identification of bacteria by direct matrix-assisted laser desorption/ionization mass spectrometric analysis of whole cells. </a:t>
            </a:r>
            <a:r>
              <a:rPr lang="en" sz="1800" i="1" dirty="0"/>
              <a:t>Rapid Communications in Mass Spectrometry : RCM</a:t>
            </a:r>
            <a:r>
              <a:rPr lang="en" sz="1800" dirty="0"/>
              <a:t>, </a:t>
            </a:r>
            <a:r>
              <a:rPr lang="en" sz="1800" i="1" dirty="0"/>
              <a:t>10</a:t>
            </a:r>
            <a:r>
              <a:rPr lang="en" sz="1800" dirty="0"/>
              <a:t>(15), 1992–6. doi:10.1002/(SICI)1097-0231(199612)10:15&lt;1992::AID-RCM789&gt;3.0.CO;2-V</a:t>
            </a:r>
          </a:p>
          <a:p>
            <a:pPr marL="457200" lvl="0" indent="-342900" rtl="0">
              <a:lnSpc>
                <a:spcPct val="115000"/>
              </a:lnSpc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AutoNum type="arabicPeriod"/>
            </a:pPr>
            <a:r>
              <a:rPr lang="en" sz="1800" dirty="0"/>
              <a:t>Lilien, R. H., Farid, H., &amp; Donald, B. R. (2003). Probabilistic Disease Classification of Expression-Dependent Proteomic Data from Mass Spectrometry of Human Serum. </a:t>
            </a:r>
            <a:r>
              <a:rPr lang="en" sz="1800" i="1" dirty="0"/>
              <a:t>Journal of Computational Biology</a:t>
            </a:r>
            <a:r>
              <a:rPr lang="en" sz="1800" dirty="0"/>
              <a:t>, </a:t>
            </a:r>
            <a:r>
              <a:rPr lang="en" sz="1800" i="1" dirty="0"/>
              <a:t>10</a:t>
            </a:r>
            <a:r>
              <a:rPr lang="en" sz="1800" dirty="0"/>
              <a:t>(6), 925–946.</a:t>
            </a:r>
          </a:p>
          <a:p>
            <a:pPr marL="457200" lvl="0" indent="-342900" rtl="0">
              <a:lnSpc>
                <a:spcPct val="115000"/>
              </a:lnSpc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AutoNum type="arabicPeriod"/>
            </a:pPr>
            <a:r>
              <a:rPr lang="en" sz="1800" dirty="0"/>
              <a:t>Böhme, K., Fernández-No, I. C., Barros-Velázquez, J., Gallardo, J. M., Carlo-Mata, P., &amp; Cañas, B. (2010). Species differentiation of seafood spoilage and pathogenic gram-negative bacteria by MALDI-TOF mass fingerprinting. </a:t>
            </a:r>
            <a:r>
              <a:rPr lang="en" sz="1800" i="1" dirty="0"/>
              <a:t>Joural of Proteome Research</a:t>
            </a:r>
            <a:r>
              <a:rPr lang="en" sz="1800" dirty="0"/>
              <a:t>, 3169–3183. Retrieved from http://pubs.acs.org/doi/abs/10.1021/pr100047q</a:t>
            </a:r>
          </a:p>
          <a:p>
            <a:pPr>
              <a:spcBef>
                <a:spcPts val="0"/>
              </a:spcBef>
              <a:buNone/>
            </a:pPr>
            <a:endParaRPr sz="1800" dirty="0"/>
          </a:p>
        </p:txBody>
      </p:sp>
    </p:spTree>
  </p:cSld>
  <p:clrMapOvr>
    <a:masterClrMapping/>
  </p:clrMapOvr>
  <p:transition xmlns:p14="http://schemas.microsoft.com/office/powerpoint/2010/main" spd="slow">
    <p:cut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Shape 217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522199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References</a:t>
            </a:r>
          </a:p>
        </p:txBody>
      </p:sp>
      <p:sp>
        <p:nvSpPr>
          <p:cNvPr id="218" name="Shape 218"/>
          <p:cNvSpPr txBox="1">
            <a:spLocks noGrp="1"/>
          </p:cNvSpPr>
          <p:nvPr>
            <p:ph type="body" idx="1"/>
          </p:nvPr>
        </p:nvSpPr>
        <p:spPr>
          <a:xfrm>
            <a:off x="457200" y="1718732"/>
            <a:ext cx="8229600" cy="46202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342900" rtl="0">
              <a:lnSpc>
                <a:spcPct val="115000"/>
              </a:lnSpc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AutoNum type="arabicPeriod" startAt="4"/>
            </a:pPr>
            <a:r>
              <a:rPr lang="en" sz="1800" dirty="0"/>
              <a:t>Arnold, R. J., Jayasankar, N., Aggarwal, D., Tang, H., &amp; Radivojac, P. (2006). A machine learning approach to predicting peptide fragmentation spectra. </a:t>
            </a:r>
            <a:r>
              <a:rPr lang="en" sz="1800" i="1" dirty="0"/>
              <a:t>Pacific Symposium on Biocomputing. Pacific Symposium on Biocomputing</a:t>
            </a:r>
            <a:r>
              <a:rPr lang="en" sz="1800" dirty="0"/>
              <a:t>, 219–30. Retrieved from http://www.ncbi.nlm.nih.gov/pubmed/17094241</a:t>
            </a:r>
          </a:p>
          <a:p>
            <a:pPr marL="457200" lvl="0" indent="-342900" rtl="0">
              <a:lnSpc>
                <a:spcPct val="115000"/>
              </a:lnSpc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AutoNum type="arabicPeriod" startAt="4"/>
            </a:pPr>
            <a:r>
              <a:rPr lang="en" sz="1800" dirty="0"/>
              <a:t>Conrads, T. P., Fusaro, V. a, Ross, S., Johann, D., Rajapakse, V., Hitt, B. a, … Veenstra, T. D. (2004). High-resolution serum proteomic features for ovarian cancer detection. </a:t>
            </a:r>
            <a:r>
              <a:rPr lang="en" sz="1800" i="1" dirty="0"/>
              <a:t>Endocrine-Related Cancer</a:t>
            </a:r>
            <a:r>
              <a:rPr lang="en" sz="1800" dirty="0"/>
              <a:t>, </a:t>
            </a:r>
            <a:r>
              <a:rPr lang="en" sz="1800" i="1" dirty="0"/>
              <a:t>11</a:t>
            </a:r>
            <a:r>
              <a:rPr lang="en" sz="1800" dirty="0"/>
              <a:t>(2), 163–78. Retrieved from </a:t>
            </a:r>
            <a:r>
              <a:rPr lang="en" sz="1800" u="sng" dirty="0">
                <a:solidFill>
                  <a:schemeClr val="hlink"/>
                </a:solidFill>
                <a:hlinkClick r:id="rId3"/>
              </a:rPr>
              <a:t>http://www.ncbi.nlm.nih.gov/pubmed/15163296</a:t>
            </a:r>
          </a:p>
          <a:p>
            <a:pPr marL="457200" lvl="0" indent="-342900" rtl="0">
              <a:lnSpc>
                <a:spcPct val="115000"/>
              </a:lnSpc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AutoNum type="arabicPeriod" startAt="4"/>
            </a:pPr>
            <a:r>
              <a:rPr lang="en" sz="1800" dirty="0"/>
              <a:t>Petricoin, E. F., Ardekani, A. M., Hitt, B. A., Levine, P. J., Fusaro, V. A., Steinberg, S. M., … Liotta, L. A. (2002). Use of proteomic patterns in serum to identify ovarian cancer. </a:t>
            </a:r>
            <a:r>
              <a:rPr lang="en" sz="1800" i="1" dirty="0"/>
              <a:t>Lancet</a:t>
            </a:r>
            <a:r>
              <a:rPr lang="en" sz="1800" dirty="0"/>
              <a:t>, </a:t>
            </a:r>
            <a:r>
              <a:rPr lang="en" sz="1800" i="1" dirty="0"/>
              <a:t>359</a:t>
            </a:r>
            <a:r>
              <a:rPr lang="en" sz="1800" dirty="0"/>
              <a:t>, 572–577. doi:10.1016/S0140-6736(02)07746-2</a:t>
            </a:r>
          </a:p>
          <a:p>
            <a:pPr marL="304800" lvl="0" rtl="0">
              <a:lnSpc>
                <a:spcPct val="115000"/>
              </a:lnSpc>
              <a:spcBef>
                <a:spcPts val="0"/>
              </a:spcBef>
              <a:buNone/>
            </a:pPr>
            <a:endParaRPr sz="1800" dirty="0"/>
          </a:p>
          <a:p>
            <a:pPr marL="304800" lvl="0" rtl="0">
              <a:lnSpc>
                <a:spcPct val="115000"/>
              </a:lnSpc>
              <a:spcBef>
                <a:spcPts val="0"/>
              </a:spcBef>
              <a:buNone/>
            </a:pPr>
            <a:endParaRPr sz="1800" dirty="0"/>
          </a:p>
          <a:p>
            <a:pPr marL="304800" lvl="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Font typeface="Arial"/>
              <a:buNone/>
            </a:pPr>
            <a:endParaRPr sz="1800" dirty="0"/>
          </a:p>
          <a:p>
            <a:pPr lvl="0" rtl="0">
              <a:spcBef>
                <a:spcPts val="0"/>
              </a:spcBef>
              <a:buNone/>
            </a:pPr>
            <a:endParaRPr sz="1800" dirty="0"/>
          </a:p>
        </p:txBody>
      </p:sp>
    </p:spTree>
  </p:cSld>
  <p:clrMapOvr>
    <a:masterClrMapping/>
  </p:clrMapOvr>
  <p:transition xmlns:p14="http://schemas.microsoft.com/office/powerpoint/2010/main" spd="slow">
    <p:cut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Shape 224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522199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References</a:t>
            </a:r>
          </a:p>
        </p:txBody>
      </p:sp>
      <p:sp>
        <p:nvSpPr>
          <p:cNvPr id="225" name="Shape 225"/>
          <p:cNvSpPr txBox="1">
            <a:spLocks noGrp="1"/>
          </p:cNvSpPr>
          <p:nvPr>
            <p:ph type="body" idx="1"/>
          </p:nvPr>
        </p:nvSpPr>
        <p:spPr>
          <a:xfrm>
            <a:off x="457200" y="1718732"/>
            <a:ext cx="8229600" cy="46202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34290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AutoNum type="arabicPeriod" startAt="7"/>
            </a:pPr>
            <a:r>
              <a:rPr lang="en" sz="1800">
                <a:solidFill>
                  <a:schemeClr val="dk1"/>
                </a:solidFill>
              </a:rPr>
              <a:t>Petricoin, E. F., Ornstein, D. K., Paweletz, C. P., Ardekani, A., Hackett, P. S., Hitt, B. a, … Liotta, L. a. (2002). Serum proteomic patterns for detection of prostate cancer. </a:t>
            </a:r>
            <a:r>
              <a:rPr lang="en" sz="1800" i="1">
                <a:solidFill>
                  <a:schemeClr val="dk1"/>
                </a:solidFill>
              </a:rPr>
              <a:t>Journal of the National Cancer Institute</a:t>
            </a:r>
            <a:r>
              <a:rPr lang="en" sz="1800">
                <a:solidFill>
                  <a:schemeClr val="dk1"/>
                </a:solidFill>
              </a:rPr>
              <a:t>, </a:t>
            </a:r>
            <a:r>
              <a:rPr lang="en" sz="1800" i="1">
                <a:solidFill>
                  <a:schemeClr val="dk1"/>
                </a:solidFill>
              </a:rPr>
              <a:t>94</a:t>
            </a:r>
            <a:r>
              <a:rPr lang="en" sz="1800">
                <a:solidFill>
                  <a:schemeClr val="dk1"/>
                </a:solidFill>
              </a:rPr>
              <a:t>(20), 1576–1578. doi:10.1093/jnci/94.20.1576</a:t>
            </a:r>
          </a:p>
          <a:p>
            <a:pPr marL="457200" lvl="0" indent="-34290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AutoNum type="arabicPeriod" startAt="7"/>
            </a:pPr>
            <a:r>
              <a:rPr lang="en" sz="1800">
                <a:solidFill>
                  <a:schemeClr val="dk1"/>
                </a:solidFill>
              </a:rPr>
              <a:t>Liu, Y., Aickelin, U., Feyereisl, J., &amp; Durrant, L. G. (2013). Wavelet feature extraction and genetic algorithm for biomarker detection in colorectal cancer data. </a:t>
            </a:r>
            <a:r>
              <a:rPr lang="en" sz="1800" i="1">
                <a:solidFill>
                  <a:schemeClr val="dk1"/>
                </a:solidFill>
              </a:rPr>
              <a:t>Knowledge-Based Systems</a:t>
            </a:r>
            <a:r>
              <a:rPr lang="en" sz="1800">
                <a:solidFill>
                  <a:schemeClr val="dk1"/>
                </a:solidFill>
              </a:rPr>
              <a:t>, </a:t>
            </a:r>
            <a:r>
              <a:rPr lang="en" sz="1800" i="1">
                <a:solidFill>
                  <a:schemeClr val="dk1"/>
                </a:solidFill>
              </a:rPr>
              <a:t>37</a:t>
            </a:r>
            <a:r>
              <a:rPr lang="en" sz="1800">
                <a:solidFill>
                  <a:schemeClr val="dk1"/>
                </a:solidFill>
              </a:rPr>
              <a:t>, 502–514. doi:10.1016/j.knosys.2012.09.011</a:t>
            </a:r>
          </a:p>
          <a:p>
            <a:pPr marL="457200" lvl="0" indent="-34290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AutoNum type="arabicPeriod" startAt="7"/>
            </a:pPr>
            <a:r>
              <a:rPr lang="en" sz="1800">
                <a:solidFill>
                  <a:schemeClr val="dk1"/>
                </a:solidFill>
              </a:rPr>
              <a:t>Tomasi, G., Savorani, F., &amp; Engelsen, S. B. (2011). Icoshift: An effective tool for the alignment of chromatographic data. </a:t>
            </a:r>
            <a:r>
              <a:rPr lang="en" sz="1800" i="1">
                <a:solidFill>
                  <a:schemeClr val="dk1"/>
                </a:solidFill>
              </a:rPr>
              <a:t>Journal of Chromatography A</a:t>
            </a:r>
            <a:r>
              <a:rPr lang="en" sz="1800">
                <a:solidFill>
                  <a:schemeClr val="dk1"/>
                </a:solidFill>
              </a:rPr>
              <a:t>, </a:t>
            </a:r>
            <a:r>
              <a:rPr lang="en" sz="1800" i="1">
                <a:solidFill>
                  <a:schemeClr val="dk1"/>
                </a:solidFill>
              </a:rPr>
              <a:t>1218</a:t>
            </a:r>
            <a:r>
              <a:rPr lang="en" sz="1800">
                <a:solidFill>
                  <a:schemeClr val="dk1"/>
                </a:solidFill>
              </a:rPr>
              <a:t>(43), 7832–7840. doi:10.1016/j.chroma.2011.08.086</a:t>
            </a:r>
          </a:p>
          <a:p>
            <a:pPr marL="457200" lvl="0" indent="-34290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AutoNum type="arabicPeriod" startAt="7"/>
            </a:pPr>
            <a:r>
              <a:rPr lang="en" sz="1800">
                <a:solidFill>
                  <a:schemeClr val="dk1"/>
                </a:solidFill>
              </a:rPr>
              <a:t>Armananzas, R., Saeys, Y., Inza, I., Garcia-Torres, M., Bielza, C., Peer, Y. Van De, &amp; Larranaga, P. (2011). Peakbin Selection in Mass Spectrometry Data Using a Consensus Approach with Estimation of Distribution Algorithms. </a:t>
            </a:r>
            <a:r>
              <a:rPr lang="en" sz="1800" i="1">
                <a:solidFill>
                  <a:schemeClr val="dk1"/>
                </a:solidFill>
              </a:rPr>
              <a:t>IEEE/ACM Transactions on Computational Biology and Bioinformatics</a:t>
            </a:r>
            <a:r>
              <a:rPr lang="en" sz="1800">
                <a:solidFill>
                  <a:schemeClr val="dk1"/>
                </a:solidFill>
              </a:rPr>
              <a:t>, </a:t>
            </a:r>
            <a:r>
              <a:rPr lang="en" sz="1800" i="1">
                <a:solidFill>
                  <a:schemeClr val="dk1"/>
                </a:solidFill>
              </a:rPr>
              <a:t>8</a:t>
            </a:r>
            <a:r>
              <a:rPr lang="en" sz="1800">
                <a:solidFill>
                  <a:schemeClr val="dk1"/>
                </a:solidFill>
              </a:rPr>
              <a:t>(3), 760–774. doi:10.1109/TCBB.2010.18</a:t>
            </a:r>
          </a:p>
          <a:p>
            <a:pPr marL="304800" lvl="0" rtl="0">
              <a:lnSpc>
                <a:spcPct val="115000"/>
              </a:lnSpc>
              <a:spcBef>
                <a:spcPts val="0"/>
              </a:spcBef>
              <a:buNone/>
            </a:pPr>
            <a:endParaRPr sz="1800">
              <a:solidFill>
                <a:schemeClr val="dk1"/>
              </a:solidFill>
            </a:endParaRPr>
          </a:p>
          <a:p>
            <a:pPr marL="304800" lvl="0" rtl="0">
              <a:lnSpc>
                <a:spcPct val="115000"/>
              </a:lnSpc>
              <a:spcBef>
                <a:spcPts val="0"/>
              </a:spcBef>
              <a:buNone/>
            </a:pPr>
            <a:endParaRPr sz="1800">
              <a:solidFill>
                <a:schemeClr val="dk1"/>
              </a:solidFill>
            </a:endParaRPr>
          </a:p>
          <a:p>
            <a:pPr marL="304800" lvl="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Font typeface="Arial"/>
              <a:buNone/>
            </a:pPr>
            <a:endParaRPr sz="1800">
              <a:solidFill>
                <a:schemeClr val="dk1"/>
              </a:solidFill>
            </a:endParaRPr>
          </a:p>
          <a:p>
            <a:pPr lvl="0" rtl="0">
              <a:spcBef>
                <a:spcPts val="0"/>
              </a:spcBef>
              <a:buNone/>
            </a:pPr>
            <a:endParaRPr sz="1800"/>
          </a:p>
        </p:txBody>
      </p:sp>
    </p:spTree>
  </p:cSld>
  <p:clrMapOvr>
    <a:masterClrMapping/>
  </p:clrMapOvr>
  <p:transition xmlns:p14="http://schemas.microsoft.com/office/powerpoint/2010/main" spd="slow">
    <p:cut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Shape 231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522199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References</a:t>
            </a:r>
          </a:p>
        </p:txBody>
      </p:sp>
      <p:sp>
        <p:nvSpPr>
          <p:cNvPr id="232" name="Shape 232"/>
          <p:cNvSpPr txBox="1">
            <a:spLocks noGrp="1"/>
          </p:cNvSpPr>
          <p:nvPr>
            <p:ph type="body" idx="1"/>
          </p:nvPr>
        </p:nvSpPr>
        <p:spPr>
          <a:xfrm>
            <a:off x="457200" y="1871132"/>
            <a:ext cx="8229600" cy="46202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34290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AutoNum type="arabicPeriod" startAt="11"/>
            </a:pPr>
            <a:r>
              <a:rPr lang="en" sz="1800" dirty="0">
                <a:solidFill>
                  <a:schemeClr val="dk1"/>
                </a:solidFill>
              </a:rPr>
              <a:t>Lasch, P., Beyer, W., Nattermann, H., Stämmler, M., Siegbrecht, E., Grunow, R., &amp; Naumann, D. (2009). Identification of Bacillus anthracis by using matrix-assisted laser desorption ionization-time of flight mass spectrometry and artificial neural networks. </a:t>
            </a:r>
            <a:r>
              <a:rPr lang="en" sz="1800" i="1" dirty="0">
                <a:solidFill>
                  <a:schemeClr val="dk1"/>
                </a:solidFill>
              </a:rPr>
              <a:t>Applied and Environmental Microbiology</a:t>
            </a:r>
            <a:r>
              <a:rPr lang="en" sz="1800" dirty="0">
                <a:solidFill>
                  <a:schemeClr val="dk1"/>
                </a:solidFill>
              </a:rPr>
              <a:t>, </a:t>
            </a:r>
            <a:r>
              <a:rPr lang="en" sz="1800" i="1" dirty="0">
                <a:solidFill>
                  <a:schemeClr val="dk1"/>
                </a:solidFill>
              </a:rPr>
              <a:t>75</a:t>
            </a:r>
            <a:r>
              <a:rPr lang="en" sz="1800" dirty="0">
                <a:solidFill>
                  <a:schemeClr val="dk1"/>
                </a:solidFill>
              </a:rPr>
              <a:t>(22), 7229–42. doi:10.1128/AEM.00857-09</a:t>
            </a:r>
          </a:p>
          <a:p>
            <a:pPr marL="457200" lvl="0" indent="-342900" rtl="0">
              <a:lnSpc>
                <a:spcPct val="115000"/>
              </a:lnSpc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AutoNum type="arabicPeriod" startAt="11"/>
            </a:pPr>
            <a:r>
              <a:rPr lang="en" sz="1800" dirty="0">
                <a:solidFill>
                  <a:schemeClr val="dk1"/>
                </a:solidFill>
              </a:rPr>
              <a:t>Fenn, J. J. B., Mann, M., Meng, C. K. a I. C., Wong, S. F., &amp; Whitehouse, C. M. (1989). Electrospray ionization for mass spectrometry of large biomolecules. </a:t>
            </a:r>
            <a:r>
              <a:rPr lang="en" sz="1800" i="1" dirty="0">
                <a:solidFill>
                  <a:schemeClr val="dk1"/>
                </a:solidFill>
              </a:rPr>
              <a:t>Science</a:t>
            </a:r>
            <a:r>
              <a:rPr lang="en" sz="1800" dirty="0">
                <a:solidFill>
                  <a:schemeClr val="dk1"/>
                </a:solidFill>
              </a:rPr>
              <a:t>, </a:t>
            </a:r>
            <a:r>
              <a:rPr lang="en" sz="1800" i="1" dirty="0">
                <a:solidFill>
                  <a:schemeClr val="dk1"/>
                </a:solidFill>
              </a:rPr>
              <a:t>246</a:t>
            </a:r>
            <a:r>
              <a:rPr lang="en" sz="1800" dirty="0">
                <a:solidFill>
                  <a:schemeClr val="dk1"/>
                </a:solidFill>
              </a:rPr>
              <a:t>(6), 64–71. Retrieved from </a:t>
            </a:r>
            <a:r>
              <a:rPr lang="en" sz="1800" u="sng" dirty="0">
                <a:solidFill>
                  <a:schemeClr val="hlink"/>
                </a:solidFill>
                <a:hlinkClick r:id="rId3"/>
              </a:rPr>
              <a:t>http://www.sciencemag.org/content/246/4926/64.short</a:t>
            </a:r>
          </a:p>
          <a:p>
            <a:pPr marL="457200" lvl="0" indent="-34290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AutoNum type="arabicPeriod" startAt="11"/>
            </a:pPr>
            <a:r>
              <a:rPr lang="en" sz="1800" dirty="0">
                <a:solidFill>
                  <a:schemeClr val="dk1"/>
                </a:solidFill>
              </a:rPr>
              <a:t>Sauer, S., &amp; Kliem, M. (2010). Mass spectrometry tools for the classification and identification of bacteria. </a:t>
            </a:r>
            <a:r>
              <a:rPr lang="en" sz="1800" i="1" dirty="0">
                <a:solidFill>
                  <a:schemeClr val="dk1"/>
                </a:solidFill>
              </a:rPr>
              <a:t>Nature Reviews. Microbiology</a:t>
            </a:r>
            <a:r>
              <a:rPr lang="en" sz="1800" dirty="0">
                <a:solidFill>
                  <a:schemeClr val="dk1"/>
                </a:solidFill>
              </a:rPr>
              <a:t>, </a:t>
            </a:r>
            <a:r>
              <a:rPr lang="en" sz="1800" i="1" dirty="0">
                <a:solidFill>
                  <a:schemeClr val="dk1"/>
                </a:solidFill>
              </a:rPr>
              <a:t>8</a:t>
            </a:r>
            <a:r>
              <a:rPr lang="en" sz="1800" dirty="0">
                <a:solidFill>
                  <a:schemeClr val="dk1"/>
                </a:solidFill>
              </a:rPr>
              <a:t>(1), 74–82. doi:10.1038/nrmicro2243</a:t>
            </a:r>
          </a:p>
          <a:p>
            <a:pPr marL="304800" lvl="0" rtl="0">
              <a:lnSpc>
                <a:spcPct val="115000"/>
              </a:lnSpc>
              <a:spcBef>
                <a:spcPts val="0"/>
              </a:spcBef>
              <a:buNone/>
            </a:pPr>
            <a:endParaRPr sz="1800" dirty="0">
              <a:solidFill>
                <a:schemeClr val="dk1"/>
              </a:solidFill>
            </a:endParaRPr>
          </a:p>
          <a:p>
            <a:pPr marL="304800" lvl="0" rtl="0">
              <a:lnSpc>
                <a:spcPct val="115000"/>
              </a:lnSpc>
              <a:spcBef>
                <a:spcPts val="0"/>
              </a:spcBef>
              <a:buNone/>
            </a:pPr>
            <a:endParaRPr sz="1800" dirty="0">
              <a:solidFill>
                <a:schemeClr val="dk1"/>
              </a:solidFill>
            </a:endParaRPr>
          </a:p>
          <a:p>
            <a:pPr marL="304800" lvl="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Font typeface="Arial"/>
              <a:buNone/>
            </a:pPr>
            <a:endParaRPr sz="1800" dirty="0">
              <a:solidFill>
                <a:schemeClr val="dk1"/>
              </a:solidFill>
            </a:endParaRPr>
          </a:p>
          <a:p>
            <a:pPr lvl="0" rtl="0">
              <a:spcBef>
                <a:spcPts val="0"/>
              </a:spcBef>
              <a:buNone/>
            </a:pPr>
            <a:endParaRPr sz="1800" dirty="0"/>
          </a:p>
        </p:txBody>
      </p:sp>
    </p:spTree>
  </p:cSld>
  <p:clrMapOvr>
    <a:masterClrMapping/>
  </p:clrMapOvr>
  <p:transition xmlns:p14="http://schemas.microsoft.com/office/powerpoint/2010/main" spd="slow">
    <p:cut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Shape 238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522199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"/>
              <a:t>References</a:t>
            </a:r>
          </a:p>
        </p:txBody>
      </p:sp>
      <p:sp>
        <p:nvSpPr>
          <p:cNvPr id="239" name="Shape 239"/>
          <p:cNvSpPr txBox="1">
            <a:spLocks noGrp="1"/>
          </p:cNvSpPr>
          <p:nvPr>
            <p:ph type="body" idx="1"/>
          </p:nvPr>
        </p:nvSpPr>
        <p:spPr>
          <a:xfrm>
            <a:off x="457200" y="1947332"/>
            <a:ext cx="8229600" cy="46202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34290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AutoNum type="arabicPeriod" startAt="14"/>
            </a:pPr>
            <a:r>
              <a:rPr lang="en" sz="1800" dirty="0">
                <a:solidFill>
                  <a:schemeClr val="dk1"/>
                </a:solidFill>
              </a:rPr>
              <a:t>Syarifahadilah, M. Y., Abdullah, R., &amp; Venkat, I. (2012). ABC algorithm as feature selection for biomarker discovery in mass spectrometry analysis. </a:t>
            </a:r>
            <a:r>
              <a:rPr lang="en" sz="1800" i="1" dirty="0">
                <a:solidFill>
                  <a:schemeClr val="dk1"/>
                </a:solidFill>
              </a:rPr>
              <a:t>Conference on Data Mining and Optimization</a:t>
            </a:r>
            <a:r>
              <a:rPr lang="en" sz="1800" dirty="0">
                <a:solidFill>
                  <a:schemeClr val="dk1"/>
                </a:solidFill>
              </a:rPr>
              <a:t>, (September), 67–72. doi:10.1109/DMO.2012.6329800</a:t>
            </a:r>
          </a:p>
          <a:p>
            <a:pPr marL="457200" lvl="0" indent="-34290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AutoNum type="arabicPeriod" startAt="14"/>
            </a:pPr>
            <a:r>
              <a:rPr lang="en" sz="1800" dirty="0">
                <a:solidFill>
                  <a:schemeClr val="dk1"/>
                </a:solidFill>
              </a:rPr>
              <a:t>Hall, M. a. (1999). </a:t>
            </a:r>
            <a:r>
              <a:rPr lang="en" sz="1800" i="1" dirty="0">
                <a:solidFill>
                  <a:schemeClr val="dk1"/>
                </a:solidFill>
              </a:rPr>
              <a:t>Correlation-based Feature Selection for Machine Learning</a:t>
            </a:r>
            <a:r>
              <a:rPr lang="en" sz="1800" dirty="0">
                <a:solidFill>
                  <a:schemeClr val="dk1"/>
                </a:solidFill>
              </a:rPr>
              <a:t> </a:t>
            </a:r>
            <a:r>
              <a:rPr lang="en" sz="1800" i="1" dirty="0">
                <a:solidFill>
                  <a:schemeClr val="dk1"/>
                </a:solidFill>
              </a:rPr>
              <a:t>Methodology</a:t>
            </a:r>
            <a:r>
              <a:rPr lang="en" sz="1800" dirty="0">
                <a:solidFill>
                  <a:schemeClr val="dk1"/>
                </a:solidFill>
              </a:rPr>
              <a:t>. Doctor of Philosophy thesis at The University of Waikato. Hamilton, New Zeland.</a:t>
            </a:r>
          </a:p>
          <a:p>
            <a:pPr marL="457200" lvl="0" indent="-34290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AutoNum type="arabicPeriod" startAt="14"/>
            </a:pPr>
            <a:r>
              <a:rPr lang="en" sz="1800" dirty="0">
                <a:solidFill>
                  <a:schemeClr val="dk1"/>
                </a:solidFill>
              </a:rPr>
              <a:t>Marchiori, E., Jimenez, C. R., West-Nielsen, M., &amp; Heegaard, N. H. H. (2006). Robust SVM-based biomarker selection with noisy mass spectrometric proteomic data. </a:t>
            </a:r>
            <a:r>
              <a:rPr lang="en" sz="1800" i="1" dirty="0">
                <a:solidFill>
                  <a:schemeClr val="dk1"/>
                </a:solidFill>
              </a:rPr>
              <a:t>Lecture Notes in Computer Science (including Subseries Lecture Notes in Artificial Intelligence and Lecture Notes in Bioinformatics)</a:t>
            </a:r>
            <a:r>
              <a:rPr lang="en" sz="1800" dirty="0">
                <a:solidFill>
                  <a:schemeClr val="dk1"/>
                </a:solidFill>
              </a:rPr>
              <a:t>, </a:t>
            </a:r>
            <a:r>
              <a:rPr lang="en" sz="1800" i="1" dirty="0">
                <a:solidFill>
                  <a:schemeClr val="dk1"/>
                </a:solidFill>
              </a:rPr>
              <a:t>3907 LNCS</a:t>
            </a:r>
            <a:r>
              <a:rPr lang="en" sz="1800" dirty="0">
                <a:solidFill>
                  <a:schemeClr val="dk1"/>
                </a:solidFill>
              </a:rPr>
              <a:t>, 79–90. doi:10.1007/11732242_8</a:t>
            </a:r>
          </a:p>
          <a:p>
            <a:pPr marL="304800" lvl="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Font typeface="Arial"/>
              <a:buNone/>
            </a:pPr>
            <a:endParaRPr sz="1800" dirty="0">
              <a:solidFill>
                <a:schemeClr val="dk1"/>
              </a:solidFill>
            </a:endParaRPr>
          </a:p>
          <a:p>
            <a:pPr marL="304800" lvl="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Font typeface="Arial"/>
              <a:buNone/>
            </a:pPr>
            <a:endParaRPr sz="1800" dirty="0">
              <a:solidFill>
                <a:schemeClr val="dk1"/>
              </a:solidFill>
            </a:endParaRPr>
          </a:p>
          <a:p>
            <a:pPr>
              <a:spcBef>
                <a:spcPts val="0"/>
              </a:spcBef>
              <a:buNone/>
            </a:pPr>
            <a:endParaRPr sz="1800" dirty="0"/>
          </a:p>
        </p:txBody>
      </p:sp>
    </p:spTree>
  </p:cSld>
  <p:clrMapOvr>
    <a:masterClrMapping/>
  </p:clrMapOvr>
  <p:transition xmlns:p14="http://schemas.microsoft.com/office/powerpoint/2010/main" spd="slow">
    <p:cut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245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522199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References</a:t>
            </a:r>
          </a:p>
        </p:txBody>
      </p:sp>
      <p:sp>
        <p:nvSpPr>
          <p:cNvPr id="246" name="Shape 246"/>
          <p:cNvSpPr txBox="1">
            <a:spLocks noGrp="1"/>
          </p:cNvSpPr>
          <p:nvPr>
            <p:ph type="body" idx="1"/>
          </p:nvPr>
        </p:nvSpPr>
        <p:spPr>
          <a:xfrm>
            <a:off x="457200" y="1871132"/>
            <a:ext cx="8229600" cy="46202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34290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AutoNum type="arabicPeriod" startAt="17"/>
            </a:pPr>
            <a:r>
              <a:rPr lang="en" sz="1800">
                <a:solidFill>
                  <a:schemeClr val="dk1"/>
                </a:solidFill>
              </a:rPr>
              <a:t>Renard, B. Y., Kirchner, M., Steen, H., Steen, J. a J., &amp; Hamprecht, F. a. (2008). NITPICK: peak identification for mass spectrometry data. </a:t>
            </a:r>
            <a:r>
              <a:rPr lang="en" sz="1800" i="1">
                <a:solidFill>
                  <a:schemeClr val="dk1"/>
                </a:solidFill>
              </a:rPr>
              <a:t>BMC Bioinformatics</a:t>
            </a:r>
            <a:r>
              <a:rPr lang="en" sz="1800">
                <a:solidFill>
                  <a:schemeClr val="dk1"/>
                </a:solidFill>
              </a:rPr>
              <a:t>, </a:t>
            </a:r>
            <a:r>
              <a:rPr lang="en" sz="1800" i="1">
                <a:solidFill>
                  <a:schemeClr val="dk1"/>
                </a:solidFill>
              </a:rPr>
              <a:t>9</a:t>
            </a:r>
            <a:r>
              <a:rPr lang="en" sz="1800">
                <a:solidFill>
                  <a:schemeClr val="dk1"/>
                </a:solidFill>
              </a:rPr>
              <a:t>, 355. doi:10.1186/1471-2105-9-355</a:t>
            </a:r>
          </a:p>
          <a:p>
            <a:pPr marL="457200" lvl="0" indent="-34290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AutoNum type="arabicPeriod" startAt="17"/>
            </a:pPr>
            <a:r>
              <a:rPr lang="en" sz="1800">
                <a:solidFill>
                  <a:schemeClr val="dk1"/>
                </a:solidFill>
              </a:rPr>
              <a:t>Yang, C., He, Z., &amp; Yu, W. (2009). Comparison of public peak detection algorithms for MALDI mass spectrometry data analysis. </a:t>
            </a:r>
            <a:r>
              <a:rPr lang="en" sz="1800" i="1">
                <a:solidFill>
                  <a:schemeClr val="dk1"/>
                </a:solidFill>
              </a:rPr>
              <a:t>BMC Bioinformatics</a:t>
            </a:r>
            <a:r>
              <a:rPr lang="en" sz="1800">
                <a:solidFill>
                  <a:schemeClr val="dk1"/>
                </a:solidFill>
              </a:rPr>
              <a:t>, </a:t>
            </a:r>
            <a:r>
              <a:rPr lang="en" sz="1800" i="1">
                <a:solidFill>
                  <a:schemeClr val="dk1"/>
                </a:solidFill>
              </a:rPr>
              <a:t>10</a:t>
            </a:r>
            <a:r>
              <a:rPr lang="en" sz="1800">
                <a:solidFill>
                  <a:schemeClr val="dk1"/>
                </a:solidFill>
              </a:rPr>
              <a:t>, 4. doi:10.1186/1471-2105-10-4</a:t>
            </a:r>
          </a:p>
          <a:p>
            <a:pPr marL="457200" lvl="0" indent="-34290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AutoNum type="arabicPeriod" startAt="17"/>
            </a:pPr>
            <a:r>
              <a:rPr lang="en" sz="1800">
                <a:solidFill>
                  <a:schemeClr val="dk1"/>
                </a:solidFill>
              </a:rPr>
              <a:t>Liu, Y. (2009). Feature extraction and dimensionality reduction for mass spectrometry data. </a:t>
            </a:r>
            <a:r>
              <a:rPr lang="en" sz="1800" i="1">
                <a:solidFill>
                  <a:schemeClr val="dk1"/>
                </a:solidFill>
              </a:rPr>
              <a:t>Computers in Biology and Medicine</a:t>
            </a:r>
            <a:r>
              <a:rPr lang="en" sz="1800">
                <a:solidFill>
                  <a:schemeClr val="dk1"/>
                </a:solidFill>
              </a:rPr>
              <a:t>, </a:t>
            </a:r>
            <a:r>
              <a:rPr lang="en" sz="1800" i="1">
                <a:solidFill>
                  <a:schemeClr val="dk1"/>
                </a:solidFill>
              </a:rPr>
              <a:t>39</a:t>
            </a:r>
            <a:r>
              <a:rPr lang="en" sz="1800">
                <a:solidFill>
                  <a:schemeClr val="dk1"/>
                </a:solidFill>
              </a:rPr>
              <a:t>(9), 818–823. doi:10.1016/j.compbiomed.2009.06.012</a:t>
            </a:r>
          </a:p>
          <a:p>
            <a:pPr marL="457200" lvl="0" indent="-34290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AutoNum type="arabicPeriod" startAt="17"/>
            </a:pPr>
            <a:r>
              <a:rPr lang="en" sz="1800">
                <a:solidFill>
                  <a:schemeClr val="dk1"/>
                </a:solidFill>
              </a:rPr>
              <a:t>Morris, J. S., Coombes, K. R., Koomen, J., Baggerly, K. a., &amp; Kobayashi, R. (2005). Feature extraction and quantification for mass spectrometry in biomedical applications using the mean spectrum. </a:t>
            </a:r>
            <a:r>
              <a:rPr lang="en" sz="1800" i="1">
                <a:solidFill>
                  <a:schemeClr val="dk1"/>
                </a:solidFill>
              </a:rPr>
              <a:t>Bioinformatics</a:t>
            </a:r>
            <a:r>
              <a:rPr lang="en" sz="1800">
                <a:solidFill>
                  <a:schemeClr val="dk1"/>
                </a:solidFill>
              </a:rPr>
              <a:t>, </a:t>
            </a:r>
            <a:r>
              <a:rPr lang="en" sz="1800" i="1">
                <a:solidFill>
                  <a:schemeClr val="dk1"/>
                </a:solidFill>
              </a:rPr>
              <a:t>21</a:t>
            </a:r>
            <a:r>
              <a:rPr lang="en" sz="1800">
                <a:solidFill>
                  <a:schemeClr val="dk1"/>
                </a:solidFill>
              </a:rPr>
              <a:t>(9), 1764–1775. doi:10.1093/bioinformatics/bti254</a:t>
            </a:r>
          </a:p>
          <a:p>
            <a:pPr marL="304800" lvl="0" rtl="0">
              <a:lnSpc>
                <a:spcPct val="115000"/>
              </a:lnSpc>
              <a:spcBef>
                <a:spcPts val="0"/>
              </a:spcBef>
              <a:buNone/>
            </a:pPr>
            <a:endParaRPr sz="1800">
              <a:solidFill>
                <a:schemeClr val="dk1"/>
              </a:solidFill>
            </a:endParaRPr>
          </a:p>
          <a:p>
            <a:pPr marL="304800" lvl="0" rtl="0">
              <a:lnSpc>
                <a:spcPct val="115000"/>
              </a:lnSpc>
              <a:spcBef>
                <a:spcPts val="0"/>
              </a:spcBef>
              <a:buNone/>
            </a:pPr>
            <a:endParaRPr sz="1800">
              <a:solidFill>
                <a:schemeClr val="dk1"/>
              </a:solidFill>
            </a:endParaRPr>
          </a:p>
          <a:p>
            <a:pPr marL="304800" lvl="0" rtl="0">
              <a:lnSpc>
                <a:spcPct val="115000"/>
              </a:lnSpc>
              <a:spcBef>
                <a:spcPts val="0"/>
              </a:spcBef>
              <a:buNone/>
            </a:pP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 xmlns:p14="http://schemas.microsoft.com/office/powerpoint/2010/main" spd="slow">
    <p:cut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Shape 252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522199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References</a:t>
            </a:r>
          </a:p>
        </p:txBody>
      </p:sp>
      <p:sp>
        <p:nvSpPr>
          <p:cNvPr id="253" name="Shape 253"/>
          <p:cNvSpPr txBox="1">
            <a:spLocks noGrp="1"/>
          </p:cNvSpPr>
          <p:nvPr>
            <p:ph type="body" idx="1"/>
          </p:nvPr>
        </p:nvSpPr>
        <p:spPr>
          <a:xfrm>
            <a:off x="457200" y="1718732"/>
            <a:ext cx="8229600" cy="46202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34290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AutoNum type="arabicPeriod" startAt="21"/>
            </a:pPr>
            <a:r>
              <a:rPr lang="en" sz="1800">
                <a:solidFill>
                  <a:schemeClr val="dk1"/>
                </a:solidFill>
              </a:rPr>
              <a:t>De Bruyne, K., Slabbinck, B., Waegeman, W., Vauterin, P., De Baets, B., &amp; Vandamme, P. (2011). Bacterial species identification from MALDI-TOF mass spectra through data analysis and machine learning. </a:t>
            </a:r>
            <a:r>
              <a:rPr lang="en" sz="1800" i="1">
                <a:solidFill>
                  <a:schemeClr val="dk1"/>
                </a:solidFill>
              </a:rPr>
              <a:t>Systematic and Applied Microbiology</a:t>
            </a:r>
            <a:r>
              <a:rPr lang="en" sz="1800">
                <a:solidFill>
                  <a:schemeClr val="dk1"/>
                </a:solidFill>
              </a:rPr>
              <a:t>, </a:t>
            </a:r>
            <a:r>
              <a:rPr lang="en" sz="1800" i="1">
                <a:solidFill>
                  <a:schemeClr val="dk1"/>
                </a:solidFill>
              </a:rPr>
              <a:t>34</a:t>
            </a:r>
            <a:r>
              <a:rPr lang="en" sz="1800">
                <a:solidFill>
                  <a:schemeClr val="dk1"/>
                </a:solidFill>
              </a:rPr>
              <a:t>(1), 20–29. doi:10.1016/j.syapm.2010.11.003</a:t>
            </a:r>
          </a:p>
          <a:p>
            <a:pPr marL="457200" lvl="0" indent="-34290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AutoNum type="arabicPeriod" startAt="21"/>
            </a:pPr>
            <a:r>
              <a:rPr lang="en" sz="1800">
                <a:solidFill>
                  <a:schemeClr val="dk1"/>
                </a:solidFill>
              </a:rPr>
              <a:t>Lilien, R. H., Farid, H., &amp; Donald, B. R. (2003). Probabilistic Disease Classification of Expression-Dependent Proteomic Data from Mass Spectrometry of Human Serum. </a:t>
            </a:r>
            <a:r>
              <a:rPr lang="en" sz="1800" i="1">
                <a:solidFill>
                  <a:schemeClr val="dk1"/>
                </a:solidFill>
              </a:rPr>
              <a:t>Journal of Computational Biology</a:t>
            </a:r>
            <a:r>
              <a:rPr lang="en" sz="1800">
                <a:solidFill>
                  <a:schemeClr val="dk1"/>
                </a:solidFill>
              </a:rPr>
              <a:t>, </a:t>
            </a:r>
            <a:r>
              <a:rPr lang="en" sz="1800" i="1">
                <a:solidFill>
                  <a:schemeClr val="dk1"/>
                </a:solidFill>
              </a:rPr>
              <a:t>10</a:t>
            </a:r>
            <a:r>
              <a:rPr lang="en" sz="1800">
                <a:solidFill>
                  <a:schemeClr val="dk1"/>
                </a:solidFill>
              </a:rPr>
              <a:t>(6), 925–946.</a:t>
            </a:r>
          </a:p>
          <a:p>
            <a:pPr marL="457200" lvl="0" indent="-34290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AutoNum type="arabicPeriod" startAt="21"/>
            </a:pPr>
            <a:r>
              <a:rPr lang="en" sz="1800">
                <a:solidFill>
                  <a:schemeClr val="dk1"/>
                </a:solidFill>
              </a:rPr>
              <a:t>Wagner, M., Naik, D., &amp; Pothen, A. (2003). Protocols for disease classification from mass spectrometry data. </a:t>
            </a:r>
            <a:r>
              <a:rPr lang="en" sz="1800" i="1">
                <a:solidFill>
                  <a:schemeClr val="dk1"/>
                </a:solidFill>
              </a:rPr>
              <a:t>Proteomics</a:t>
            </a:r>
            <a:r>
              <a:rPr lang="en" sz="1800">
                <a:solidFill>
                  <a:schemeClr val="dk1"/>
                </a:solidFill>
              </a:rPr>
              <a:t>, </a:t>
            </a:r>
            <a:r>
              <a:rPr lang="en" sz="1800" i="1">
                <a:solidFill>
                  <a:schemeClr val="dk1"/>
                </a:solidFill>
              </a:rPr>
              <a:t>3</a:t>
            </a:r>
            <a:r>
              <a:rPr lang="en" sz="1800">
                <a:solidFill>
                  <a:schemeClr val="dk1"/>
                </a:solidFill>
              </a:rPr>
              <a:t>(SEPTEMBER 2003), 1692–1698. doi:10.1002/pmic.200300519</a:t>
            </a:r>
          </a:p>
          <a:p>
            <a:pPr marL="457200" lvl="0" indent="-34290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AutoNum type="arabicPeriod" startAt="21"/>
            </a:pPr>
            <a:r>
              <a:rPr lang="en" sz="1800">
                <a:solidFill>
                  <a:schemeClr val="dk1"/>
                </a:solidFill>
              </a:rPr>
              <a:t>Jarman, K. H., Cebula, S. T., Saenz, a J., Petersen, C. E., Valentine, N. B., Kingsley, M. T., &amp; Wahl, K. L. (2000). An algorithm for automated bacterial identification using matrix-assisted laser desorption/ionization mass spectrometry. </a:t>
            </a:r>
            <a:r>
              <a:rPr lang="en" sz="1800" i="1">
                <a:solidFill>
                  <a:schemeClr val="dk1"/>
                </a:solidFill>
              </a:rPr>
              <a:t>Analytical Chemistry</a:t>
            </a:r>
            <a:r>
              <a:rPr lang="en" sz="1800">
                <a:solidFill>
                  <a:schemeClr val="dk1"/>
                </a:solidFill>
              </a:rPr>
              <a:t>, </a:t>
            </a:r>
            <a:r>
              <a:rPr lang="en" sz="1800" i="1">
                <a:solidFill>
                  <a:schemeClr val="dk1"/>
                </a:solidFill>
              </a:rPr>
              <a:t>72</a:t>
            </a:r>
            <a:r>
              <a:rPr lang="en" sz="1800">
                <a:solidFill>
                  <a:schemeClr val="dk1"/>
                </a:solidFill>
              </a:rPr>
              <a:t>(6), 1217–23. Retrieved from http://www.ncbi.nlm.nih.gov/pubmed/10740862</a:t>
            </a:r>
          </a:p>
          <a:p>
            <a:pPr marL="304800" lvl="0" rtl="0">
              <a:lnSpc>
                <a:spcPct val="115000"/>
              </a:lnSpc>
              <a:spcBef>
                <a:spcPts val="0"/>
              </a:spcBef>
              <a:buNone/>
            </a:pP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 xmlns:p14="http://schemas.microsoft.com/office/powerpoint/2010/main" spd="slow">
    <p:cut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Shape 259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522199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References</a:t>
            </a:r>
          </a:p>
        </p:txBody>
      </p:sp>
      <p:sp>
        <p:nvSpPr>
          <p:cNvPr id="260" name="Shape 260"/>
          <p:cNvSpPr txBox="1">
            <a:spLocks noGrp="1"/>
          </p:cNvSpPr>
          <p:nvPr>
            <p:ph type="body" idx="1"/>
          </p:nvPr>
        </p:nvSpPr>
        <p:spPr>
          <a:xfrm>
            <a:off x="457200" y="1871132"/>
            <a:ext cx="8229600" cy="46202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34290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AutoNum type="arabicPeriod" startAt="25"/>
            </a:pPr>
            <a:r>
              <a:rPr lang="en" sz="1800">
                <a:solidFill>
                  <a:schemeClr val="dk1"/>
                </a:solidFill>
              </a:rPr>
              <a:t>Tibshirani, R., Hastie, T., Narasimhan, B., Soltys, S., Shi, G., Koong, A., &amp; Le, Q.-T. (2004). Sample classification from protein mass spectrometry, by “peak probability contrasts”. </a:t>
            </a:r>
            <a:r>
              <a:rPr lang="en" sz="1800" i="1">
                <a:solidFill>
                  <a:schemeClr val="dk1"/>
                </a:solidFill>
              </a:rPr>
              <a:t>Bioinformatics (Oxford, England)</a:t>
            </a:r>
            <a:r>
              <a:rPr lang="en" sz="1800">
                <a:solidFill>
                  <a:schemeClr val="dk1"/>
                </a:solidFill>
              </a:rPr>
              <a:t>, </a:t>
            </a:r>
            <a:r>
              <a:rPr lang="en" sz="1800" i="1">
                <a:solidFill>
                  <a:schemeClr val="dk1"/>
                </a:solidFill>
              </a:rPr>
              <a:t>20</a:t>
            </a:r>
            <a:r>
              <a:rPr lang="en" sz="1800">
                <a:solidFill>
                  <a:schemeClr val="dk1"/>
                </a:solidFill>
              </a:rPr>
              <a:t>(17), 3034–44. doi:10.1093/bioinformatics/bth357</a:t>
            </a:r>
          </a:p>
          <a:p>
            <a:pPr marL="457200" lvl="0" indent="-34290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AutoNum type="arabicPeriod" startAt="25"/>
            </a:pPr>
            <a:r>
              <a:rPr lang="en" sz="1800">
                <a:solidFill>
                  <a:schemeClr val="dk1"/>
                </a:solidFill>
              </a:rPr>
              <a:t>Yu, J. S., Ongarello, S., Fiedler, R., Chen, X. W., Toffolo, G., Cobelli, C., &amp; Trajanoski, Z. (2005). Ovarian cancer identification based on dimensionality reduction for high-throughput mass spectrometry data. </a:t>
            </a:r>
            <a:r>
              <a:rPr lang="en" sz="1800" i="1">
                <a:solidFill>
                  <a:schemeClr val="dk1"/>
                </a:solidFill>
              </a:rPr>
              <a:t>Bioinformatics</a:t>
            </a:r>
            <a:r>
              <a:rPr lang="en" sz="1800">
                <a:solidFill>
                  <a:schemeClr val="dk1"/>
                </a:solidFill>
              </a:rPr>
              <a:t>, </a:t>
            </a:r>
            <a:r>
              <a:rPr lang="en" sz="1800" i="1">
                <a:solidFill>
                  <a:schemeClr val="dk1"/>
                </a:solidFill>
              </a:rPr>
              <a:t>21</a:t>
            </a:r>
            <a:r>
              <a:rPr lang="en" sz="1800">
                <a:solidFill>
                  <a:schemeClr val="dk1"/>
                </a:solidFill>
              </a:rPr>
              <a:t>(10), 2200–2209. doi:10.1093/bioinformatics/bti370</a:t>
            </a:r>
          </a:p>
          <a:p>
            <a:pPr marL="457200" lvl="0" indent="-34290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AutoNum type="arabicPeriod" startAt="25"/>
            </a:pPr>
            <a:r>
              <a:rPr lang="en" sz="1800">
                <a:solidFill>
                  <a:schemeClr val="dk1"/>
                </a:solidFill>
              </a:rPr>
              <a:t>Conrads, T. P., Zhou, M., Petricoin, E. F., Liotta, L., &amp; Veenstra, T. D. (2003). Cancer diagnosis using proteomic patterns. </a:t>
            </a:r>
            <a:r>
              <a:rPr lang="en" sz="1800" i="1">
                <a:solidFill>
                  <a:schemeClr val="dk1"/>
                </a:solidFill>
              </a:rPr>
              <a:t>Expert Review of Molecular Diagnostics</a:t>
            </a:r>
            <a:r>
              <a:rPr lang="en" sz="1800">
                <a:solidFill>
                  <a:schemeClr val="dk1"/>
                </a:solidFill>
              </a:rPr>
              <a:t>, </a:t>
            </a:r>
            <a:r>
              <a:rPr lang="en" sz="1800" i="1">
                <a:solidFill>
                  <a:schemeClr val="dk1"/>
                </a:solidFill>
              </a:rPr>
              <a:t>3</a:t>
            </a:r>
            <a:r>
              <a:rPr lang="en" sz="1800">
                <a:solidFill>
                  <a:schemeClr val="dk1"/>
                </a:solidFill>
              </a:rPr>
              <a:t>, 411–420. doi:10.1586/14737159.3.4.411</a:t>
            </a:r>
          </a:p>
          <a:p>
            <a:pPr marL="457200" lvl="0" indent="-34290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AutoNum type="arabicPeriod" startAt="25"/>
            </a:pPr>
            <a:r>
              <a:rPr lang="en" sz="1800">
                <a:solidFill>
                  <a:schemeClr val="dk1"/>
                </a:solidFill>
              </a:rPr>
              <a:t>Li, J., Zhang, Z., Rosenzweig, J., Wang, Y. Y., &amp; Chan, D. W. (2002). Proteomics and Bioinformatics Approaches for Identification of Serum Biomarkers to Detect Breast Cancer. </a:t>
            </a:r>
            <a:r>
              <a:rPr lang="en" sz="1800" i="1">
                <a:solidFill>
                  <a:schemeClr val="dk1"/>
                </a:solidFill>
              </a:rPr>
              <a:t>Clinical Chemistry</a:t>
            </a:r>
            <a:r>
              <a:rPr lang="en" sz="1800">
                <a:solidFill>
                  <a:schemeClr val="dk1"/>
                </a:solidFill>
              </a:rPr>
              <a:t>, </a:t>
            </a:r>
            <a:r>
              <a:rPr lang="en" sz="1800" i="1">
                <a:solidFill>
                  <a:schemeClr val="dk1"/>
                </a:solidFill>
              </a:rPr>
              <a:t>1304</a:t>
            </a:r>
            <a:r>
              <a:rPr lang="en" sz="1800">
                <a:solidFill>
                  <a:schemeClr val="dk1"/>
                </a:solidFill>
              </a:rPr>
              <a:t>, 1296–1304.</a:t>
            </a:r>
          </a:p>
        </p:txBody>
      </p:sp>
    </p:spTree>
  </p:cSld>
  <p:clrMapOvr>
    <a:masterClrMapping/>
  </p:clrMapOvr>
  <p:transition xmlns:p14="http://schemas.microsoft.com/office/powerpoint/2010/main" spd="slow">
    <p:cut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Theme">
  <a:themeElements>
    <a:clrScheme name="Custom 348">
      <a:dk1>
        <a:srgbClr val="000000"/>
      </a:dk1>
      <a:lt1>
        <a:srgbClr val="FFFFFF"/>
      </a:lt1>
      <a:dk2>
        <a:srgbClr val="191919"/>
      </a:dk2>
      <a:lt2>
        <a:srgbClr val="CCCCCC"/>
      </a:lt2>
      <a:accent1>
        <a:srgbClr val="7E5554"/>
      </a:accent1>
      <a:accent2>
        <a:srgbClr val="910A10"/>
      </a:accent2>
      <a:accent3>
        <a:srgbClr val="84294D"/>
      </a:accent3>
      <a:accent4>
        <a:srgbClr val="DA823B"/>
      </a:accent4>
      <a:accent5>
        <a:srgbClr val="625D3C"/>
      </a:accent5>
      <a:accent6>
        <a:srgbClr val="00384A"/>
      </a:accent6>
      <a:hlink>
        <a:srgbClr val="227A78"/>
      </a:hlink>
      <a:folHlink>
        <a:srgbClr val="39474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6534</TotalTime>
  <Words>3707</Words>
  <Application>Microsoft Macintosh PowerPoint</Application>
  <PresentationFormat>On-screen Show (4:3)</PresentationFormat>
  <Paragraphs>481</Paragraphs>
  <Slides>45</Slides>
  <Notes>34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6" baseType="lpstr">
      <vt:lpstr>Custom Theme</vt:lpstr>
      <vt:lpstr>APLICAÇÃO DE TÉCNICAS DE INTELIGÊNCIA ARTIFICIAL EM DADOS DE ESPECTROMETRIA DE MASSAS E CRIAÇÃO DE UMA FERRAMENTA GENÉRICA PARA ANÁLISE E CLASSIFICAÇÃO DE DADOS DE ESPECTROMETRIA DE MASSAS</vt:lpstr>
      <vt:lpstr>Introduction</vt:lpstr>
      <vt:lpstr>PowerPoint Presentation</vt:lpstr>
      <vt:lpstr>Introduction</vt:lpstr>
      <vt:lpstr>Espectrometria de Massas</vt:lpstr>
      <vt:lpstr>Introduction</vt:lpstr>
      <vt:lpstr>Introduction</vt:lpstr>
      <vt:lpstr>Introduction</vt:lpstr>
      <vt:lpstr>Introduction</vt:lpstr>
      <vt:lpstr>PowerPoint Presentation</vt:lpstr>
      <vt:lpstr>Introduction</vt:lpstr>
      <vt:lpstr>Introduction</vt:lpstr>
      <vt:lpstr>Motivation</vt:lpstr>
      <vt:lpstr>General Objective</vt:lpstr>
      <vt:lpstr>Specifics</vt:lpstr>
      <vt:lpstr>Methods</vt:lpstr>
      <vt:lpstr>Data</vt:lpstr>
      <vt:lpstr>Peaks Selection with FMA.</vt:lpstr>
      <vt:lpstr>Why FMA?</vt:lpstr>
      <vt:lpstr>Automatic Feature Extraction</vt:lpstr>
      <vt:lpstr>Automatic Feature Extraction</vt:lpstr>
      <vt:lpstr>GA - Genetic Algorithms</vt:lpstr>
      <vt:lpstr>Automatic Feature Extraction With GA</vt:lpstr>
      <vt:lpstr>Cross Validation Performance</vt:lpstr>
      <vt:lpstr>Best Peaks Selection</vt:lpstr>
      <vt:lpstr>Best Peaks Selection</vt:lpstr>
      <vt:lpstr>Watch Points</vt:lpstr>
      <vt:lpstr>Feature Resonance</vt:lpstr>
      <vt:lpstr>Results</vt:lpstr>
      <vt:lpstr>Ovarian Cancer Results</vt:lpstr>
      <vt:lpstr>Prostate Cancer Results</vt:lpstr>
      <vt:lpstr>Intact Cell Results</vt:lpstr>
      <vt:lpstr>Intact Cell Results</vt:lpstr>
      <vt:lpstr>Intact Cell Results</vt:lpstr>
      <vt:lpstr>Library And Software</vt:lpstr>
      <vt:lpstr>Conclusion and Future Work</vt:lpstr>
      <vt:lpstr>Agradecimentos</vt:lpstr>
      <vt:lpstr>References</vt:lpstr>
      <vt:lpstr>References</vt:lpstr>
      <vt:lpstr>References</vt:lpstr>
      <vt:lpstr>References</vt:lpstr>
      <vt:lpstr>References</vt:lpstr>
      <vt:lpstr>References</vt:lpstr>
      <vt:lpstr>References</vt:lpstr>
      <vt:lpstr>References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APLICAÇÃO DE TÉCNICAS DE INTELIGÊNCIA ARTIFICIAL EM DADOS DE ESPECTROMETRIA DE MASSAS E CRIAÇÃO DE UMA FERRAMENTA GENÉRICA PARA ANÁLISE E CLASSIFICAÇÃO DE DADOS DE ESPECTROMETRIA DE MASSAS</dc:title>
  <cp:lastModifiedBy>Calebe Brim</cp:lastModifiedBy>
  <cp:revision>283</cp:revision>
  <dcterms:modified xsi:type="dcterms:W3CDTF">2015-07-27T14:10:46Z</dcterms:modified>
</cp:coreProperties>
</file>